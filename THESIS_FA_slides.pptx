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384048"/>
            <a:ext cx="11292840" cy="42976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411480" dist="128016" dir="7200000" algn="ctr" rotWithShape="0">
              <a:srgbClr val="1A334A">
                <a:alpha val="2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ut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6692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64008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دانشگاه صنعتی اصفهان  |  دانشکده مهندسی برق و کامپیوتر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25880"/>
            <a:ext cx="106070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600"/>
              </a:spcAft>
            </a:pPr>
            <a:r>
              <a:rPr sz="3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طبقه‌بندی مبتنی بر گراف</a:t>
            </a:r>
          </a:p>
          <a:p>
            <a:pPr algn="r" rtl="1">
              <a:spcAft>
                <a:spcPts val="600"/>
              </a:spcAft>
            </a:pPr>
            <a:r>
              <a:rPr sz="3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با استفاده از لم نظم زمردی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520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Aft>
                <a:spcPts val="0"/>
              </a:spcAft>
            </a:pPr>
            <a:r>
              <a:rPr sz="1600" b="0" rtl="0" lang="en-US">
                <a:solidFill>
                  <a:srgbClr val="6B645C"/>
                </a:solidFill>
                <a:latin typeface="Calibri"/>
                <a:ea typeface="Calibri"/>
                <a:cs typeface="Calibri"/>
              </a:rPr>
              <a:t>Szemerédi regularity lemma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069080"/>
            <a:ext cx="2194560" cy="73152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235440" y="4937760"/>
            <a:ext cx="2761488" cy="14173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00032" y="50749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دانشجو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00032" y="53949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سید محمد فاطمی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937760"/>
            <a:ext cx="2761488" cy="14173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50749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سال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3949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۱۴۰۵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4937760"/>
            <a:ext cx="2761488" cy="14173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50749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مقطع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7872" y="53949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کارشناسی مهندسی کامپیوتر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2761488" cy="14173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074920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2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استاد راهنما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539496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دکتر زینب مالکی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اهمیت و بیان مسئله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243584"/>
            <a:ext cx="5897880" cy="50749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12880" y="1243584"/>
            <a:ext cx="91440" cy="507492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417320"/>
            <a:ext cx="5394960" cy="470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600"/>
              </a:spcAft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خیلی از داده‌ها برچسب آماده ندارند. خوشه‌بندی برای همین مهم است: نمونه‌های شبیه باید خودشان یک گروه شوند، مثل مشتری‌های هم‌سلیقه یا تصویرهای هم‌خانواده.</a:t>
            </a:r>
          </a:p>
          <a:p>
            <a:pPr algn="r" rtl="1">
              <a:spcAft>
                <a:spcPts val="1600"/>
              </a:spcAft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یک راه جاافتاده برای دیدن این شباهت، ساختن گراف است. هر نمونه یک رأس می‌شود و یال میان دو رأس می‌گوید چقدر به هم نزدیک‌اند.</a:t>
            </a:r>
          </a:p>
          <a:p>
            <a:pPr algn="r" rtl="1">
              <a:spcAft>
                <a:spcPts val="1600"/>
              </a:spcAft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گره کار از همین‌جا شروع می‌شود. همین که تعداد نمونه‌ها بالا برود، گرافی که همسایگی را نشان می‌داد دیگر در حافظه و زمان جا نمی‌شود.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43584"/>
            <a:ext cx="5166360" cy="507492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371600"/>
            <a:ext cx="4910328" cy="481888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ncept_why_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1691640"/>
            <a:ext cx="369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چالش‌ها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243584"/>
            <a:ext cx="5897880" cy="50749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12880" y="1243584"/>
            <a:ext cx="91440" cy="507492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400"/>
              </a:spcAft>
              <a:buFont typeface="Calibri"/>
              <a:buChar char="•"/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برای هر دو نمونه یک عدد شباهت حساب می‌شود و همه این عددها باید بمانند.</a:t>
            </a:r>
          </a:p>
          <a:p>
            <a:pPr algn="r" rtl="1">
              <a:spcAft>
                <a:spcPts val="1400"/>
              </a:spcAft>
              <a:buFont typeface="Calibri"/>
              <a:buChar char="•"/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با </a:t>
            </a:r>
            <a:r>
              <a:rPr sz="20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</a:t>
            </a: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نمونه، تعداد این عددها از مرتبه </a:t>
            </a:r>
            <a:r>
              <a:rPr sz="20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n²</a:t>
            </a: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است؛ حافظه خیلی زود پر می‌شود.</a:t>
            </a:r>
          </a:p>
          <a:p>
            <a:pPr algn="r" rtl="1">
              <a:spcAft>
                <a:spcPts val="1400"/>
              </a:spcAft>
              <a:buFont typeface="Calibri"/>
              <a:buChar char="•"/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بخش بزرگی از الگوریتم‌های خوشه‌بندی گرافی زمانی نزدیک </a:t>
            </a:r>
            <a:r>
              <a:rPr sz="20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n³</a:t>
            </a: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دارند.</a:t>
            </a:r>
          </a:p>
          <a:p>
            <a:pPr algn="r" rtl="1">
              <a:spcAft>
                <a:spcPts val="1400"/>
              </a:spcAft>
              <a:buFont typeface="Calibri"/>
              <a:buChar char="•"/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مثلاً برای حدود یازده هزار نمونه، ماتریس شباهت نزدیک صد و بیست میلیون خانه دارد.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43584"/>
            <a:ext cx="5166360" cy="507492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371600"/>
            <a:ext cx="4910328" cy="481888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ncept_simila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510" y="1691640"/>
            <a:ext cx="3718019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متودولوژی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06440" y="1243584"/>
            <a:ext cx="5897880" cy="507492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612880" y="1243584"/>
            <a:ext cx="91440" cy="507492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55448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گراف شباهت یک بار ساخته می‌شود. هر دو راه آزمایش از همین گراف شروع می‌کنند.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راه پایه: همان الگوریتم، مستقیم روی گراف اصلی.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راه لم: تقسیم رأس‌ها به گروه‌های هم‌اندازه، خلاصه رابطه گروه‌ها با یک چگالی، بعد خوشه‌بندی روی گراف کوچک.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برچسب گراف کوچک به نمونه‌ها برمی‌گردد. کیفیت هر دو راه با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NMI</a:t>
            </a: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و برچسب واقعی سنجیده می‌شود.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" y="1243584"/>
            <a:ext cx="5166360" cy="507492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1371600"/>
            <a:ext cx="4910328" cy="481888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oncept_why_lem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1691640"/>
            <a:ext cx="369824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لم نظم زمردی چه می‌گوید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lemma_say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912566"/>
            <a:ext cx="6958584" cy="3727812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گراف به‌قدر کافی بزرگ.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چند گروه تقریباً هم‌اندازه. تعداد گروه‌ها خیلی کمتر از تعداد رأس‌ها.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یال یکنواخت بین بیشتر گروه‌ها. یک عدد برای هر جفت: چگالی.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هر گروه یک رأس. خوشه‌بندی راه لم روی همین گراف کوچک.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جفت منظم و جفت نامنظم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280160"/>
            <a:ext cx="5513832" cy="49834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280160"/>
            <a:ext cx="5513832" cy="9144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087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جفت منظم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011680"/>
            <a:ext cx="5001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یال یکنواخت بین دو گروه. یک چگالی برای کل رابطه.</a:t>
            </a:r>
          </a:p>
        </p:txBody>
      </p:sp>
      <p:pic>
        <p:nvPicPr>
          <p:cNvPr id="15" name="Picture 14" descr="concept_reg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3130573"/>
            <a:ext cx="4782312" cy="2608533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457200" y="1280160"/>
            <a:ext cx="5513832" cy="49834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1280160"/>
            <a:ext cx="5513832" cy="91440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508760"/>
            <a:ext cx="5001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جفت نامنظم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2011680"/>
            <a:ext cx="50017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یک تکه شلوغ، بقیه خلوت. یک عدد ناکافی.</a:t>
            </a:r>
          </a:p>
        </p:txBody>
      </p:sp>
      <p:pic>
        <p:nvPicPr>
          <p:cNvPr id="20" name="Picture 19" descr="concept_irregul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30573"/>
            <a:ext cx="4782312" cy="26085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قدم اول: گروه‌های هم‌اندازه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par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78676"/>
            <a:ext cx="6958584" cy="37955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لم اول رأس‌ها را به چند گروه تقریباً هم‌اندازه تقسیم می‌کند.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لکه‌های رنگی همین گروه‌ها هستند.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نقطه‌های خاکستری در هیچ گروه تمیزی جا نشده‌اند.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آن ته مانده را مجموعه استثنایی می‌نامند.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جفت منظم: یال‌ها یکنواخت‌اند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reg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78676"/>
            <a:ext cx="6958584" cy="37955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منظم بودن درباره یال بین دو گروه است، نه داخل هر گروه.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باید زیرمجموعه‌های به‌قدر کافی بزرگ را هم چک کرد، نه تکه‌های خیلی کوچک را.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حد اندازه، کسری از خود گروه است. از آن حد به بعد، چگالی هر دو زیرمجموعه باید نزدیک چگالی کل بماند.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اگر این طور باشد، یک عدد چگالی کل رابطه را خلاصه می‌کند.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جفت نامنظم: یک عدد کافی نیست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irreg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78676"/>
            <a:ext cx="6958584" cy="37955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اینجا بالای تصویر پر از یال است و پایین تقریباً خالی.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میانگین، این تفاوت را پنهان می‌کند.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لم چنین جفتی را نامنظم می‌گیرد و باید بعداً بریده شود.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اپسیلون، مرز منظم و نامنظم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836676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818388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eps_regular_pai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36478"/>
            <a:ext cx="7964424" cy="447998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842248" y="1170432"/>
            <a:ext cx="3044952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1353312"/>
            <a:ext cx="266090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چپ جفت منظم است: چگالی تقریباً ثابت و نزدیک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d.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راست جفت نامنظم است: یک تکه شلوغ و بقیه خلوت.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اپسیلون هم حد اختلاف چگالی است و هم کف اندازه زیرمجموعه.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زیرمجموعه کوچک‌تر از این کف کنار گذاشته می‌شود. بزرگ‌تر از آن، باید چگالی‌اش نزدیک چگالی کل بماند.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چطور جفت نامنظم را پیدا می‌کنیم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9392" y="1371600"/>
            <a:ext cx="3614928" cy="47091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9392" y="1371600"/>
            <a:ext cx="3614928" cy="9144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3984" y="1554480"/>
            <a:ext cx="3285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آزمون 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3984" y="1847088"/>
            <a:ext cx="3285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یال خیلی کم، جفت منظم است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3984" y="2468880"/>
            <a:ext cx="3285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اگر میانگین یال بین دو گروه از حدی کمتر باشد، جفت را منظم می‌گیریم. گراف خالی هم منظم است.</a:t>
            </a:r>
          </a:p>
        </p:txBody>
      </p:sp>
      <p:pic>
        <p:nvPicPr>
          <p:cNvPr id="16" name="Picture 15" descr="concept_alo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3823106"/>
            <a:ext cx="3029712" cy="1817827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4273296" y="1371600"/>
            <a:ext cx="3614928" cy="47091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3296" y="1371600"/>
            <a:ext cx="3614928" cy="91440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7888" y="1554480"/>
            <a:ext cx="3285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آزمون 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7888" y="1847088"/>
            <a:ext cx="3285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همسایه مشترکِ زیاد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7888" y="2468880"/>
            <a:ext cx="3285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اگر دسته‌ای از رأس‌ها همسایه‌های خیلی شبیه داشته باشند، همان دسته شاهد نامنظمی است.</a:t>
            </a:r>
          </a:p>
        </p:txBody>
      </p:sp>
      <p:pic>
        <p:nvPicPr>
          <p:cNvPr id="22" name="Picture 21" descr="concept_alon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04" y="3823106"/>
            <a:ext cx="3029712" cy="1817827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57200" y="1371600"/>
            <a:ext cx="3614928" cy="47091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371600"/>
            <a:ext cx="3614928" cy="91440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1554480"/>
            <a:ext cx="32857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آزمون 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1847088"/>
            <a:ext cx="3285744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درجه خیلی دور از میانگین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2468880"/>
            <a:ext cx="328574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رأس‌هایی که درجه‌شان از میانگین خیلی پرت است جمع می‌شوند. اگر تعدادشان زیاد باشد، </a:t>
            </a:r>
            <a:r>
              <a:rPr sz="14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certificate</a:t>
            </a:r>
            <a:r>
              <a:rPr sz="14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همان‌هاست.</a:t>
            </a:r>
          </a:p>
        </p:txBody>
      </p:sp>
      <p:pic>
        <p:nvPicPr>
          <p:cNvPr id="28" name="Picture 27" descr="concept_alo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823106"/>
            <a:ext cx="3029712" cy="18178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برش گروه، داخل ساخت افراز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ref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067346"/>
            <a:ext cx="6958584" cy="341825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جای این کار در راه لم، بعد از آزمون جفت‌ها و قبل از ساخت گراف کوچک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هنوز خوشه‌بندی نیست. گروه نامنظم دو تکه می‌شود تا بشود یال‌ها را با یک چگالی عوض کرد.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تکه قرمز همان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certificate</a:t>
            </a: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است و از گروه جدا می‌شود. بقیه گروه سر جایش می‌ماند.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خرده‌هایی که به هیچ تکه‌ای نمی‌خورند به مجموعه استثنایی می‌روند.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سه اصلاح مقاله روی همین افراز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61872"/>
            <a:ext cx="1129284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182880" dist="45720" dir="7200000" algn="ctr" rotWithShape="0">
              <a:srgbClr val="1A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594592" y="1371600"/>
            <a:ext cx="91440" cy="621792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61320" y="1389888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۰۱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389888"/>
            <a:ext cx="9738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هر گروه حداکثر با یک گروه دیگر نامنظم حساب می‌شود. بدون این قید، تعداد گروه‌ها در هر دور چند برابر می‌شود.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194560"/>
            <a:ext cx="1129284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182880" dist="45720" dir="7200000" algn="ctr" rotWithShape="0">
              <a:srgbClr val="1A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594592" y="2304288"/>
            <a:ext cx="91440" cy="621792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61320" y="2322576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۰۲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322576"/>
            <a:ext cx="9738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تکه نامنظم با روش درجه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Fiorucci</a:t>
            </a: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پیدا می‌شود، نه با جست‌وجوی کامل نسخه اصلی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Alon.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127248"/>
            <a:ext cx="1129284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182880" dist="45720" dir="7200000" algn="ctr" rotWithShape="0">
              <a:srgbClr val="1A334A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94592" y="3236976"/>
            <a:ext cx="91440" cy="621792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3255264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1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۰۳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255264"/>
            <a:ext cx="9738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وقتی گروه‌ها به‌قدر کافی کوچک شدند، حلقه می‌ایستد. نتیجه تقریباً منظم است، نه یک افراز اثبات‌شده.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از یال‌های بین دو گروه تا یک چگالی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78676"/>
            <a:ext cx="6958584" cy="37955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چپ، همه یال‌های بین دو گروه را نشان می‌دهد.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راست، همان رابطه فقط با یک میله مانده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ضخامت میله یعنی چگالی: سهم یال‌های موجود از همه یال‌های ممکن.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گراف کوچک: هر گروه یک رأس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redu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78676"/>
            <a:ext cx="6958584" cy="37955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هر گروه با فلش به یک رأس هم‌رنگ تبدیل می‌شود.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آن رأس نماینده همه نمونه‌های گروه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ضخامت یال بین دو رأس، همان چگالی دو گروه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خوشه‌بندی از اینجا به بعد روی همین گراف کوچک انجام می‌شود.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همان گراف، یک بار مستقیم و یک بار با لم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53312"/>
            <a:ext cx="5669280" cy="47548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353312"/>
            <a:ext cx="5669280" cy="9144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536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راه پایه</a:t>
            </a:r>
          </a:p>
        </p:txBody>
      </p:sp>
      <p:pic>
        <p:nvPicPr>
          <p:cNvPr id="14" name="Picture 13" descr="concept_path_dir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210" y="1965960"/>
            <a:ext cx="3489579" cy="32461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37960" y="5257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خوشه‌بندی مستقیم روی گراف اصلی. رنگ هر رأس همان خوشه اوست.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353312"/>
            <a:ext cx="5669280" cy="47548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1353312"/>
            <a:ext cx="5669280" cy="91440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15361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2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راه لم</a:t>
            </a:r>
          </a:p>
        </p:txBody>
      </p:sp>
      <p:pic>
        <p:nvPicPr>
          <p:cNvPr id="19" name="Picture 18" descr="concept_path_lem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810" y="1965960"/>
            <a:ext cx="2138620" cy="3246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40080" y="525780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رأس‌های زیاد به ۴ رأس کوچک می‌شوند. خوشه‌بندی روی همین گراف چهار رأسی انجام می‌شود.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برگرداندن خوشه به تک‌تک نمونه‌ها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878676"/>
            <a:ext cx="6958584" cy="3795591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خوشه‌بندی فقط به رأس‌های گراف کوچک رنگ داده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هر نمونه، رنگ رأس گروهی را می‌گیرد که عضو آن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پس خروجی باز هم یک برچسب برای هر نمونه اصلی است.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کل مسیر آزمایش، از داده تا </a:t>
            </a:r>
            <a:r>
              <a:rPr sz="2600" b="1" rtl="0" lang="en-US">
                <a:solidFill>
                  <a:srgbClr val="1A334A"/>
                </a:solidFill>
                <a:latin typeface="Calibri"/>
                <a:ea typeface="Calibri"/>
                <a:cs typeface="Calibri"/>
              </a:rPr>
              <a:t>NMI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300409"/>
            <a:ext cx="6958584" cy="2952126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داده خوانده می‌شود، در صورت نیاز کوچک می‌شود، و گراف شباهت یک بار ساخته می‌شود.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شاخه پایه همان جا روی گراف اصلی خوشه می‌زند.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شاخه لم از افراز و گراف کوچک رد می‌شود و برچسب را به نمونه‌ها برمی‌گرداند.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هر دو شاخه با برچسب واقعی و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NMI</a:t>
            </a: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مقایسه می‌شوند.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چهار الگوریتم، روی هر دو راه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۱۹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43416" y="1417320"/>
            <a:ext cx="2660904" cy="42976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43416" y="1417320"/>
            <a:ext cx="2660904" cy="109728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6" y="1737360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2016" y="2240280"/>
            <a:ext cx="2203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Aft>
                <a:spcPts val="0"/>
              </a:spcAft>
            </a:pPr>
            <a:r>
              <a:rPr sz="2200" b="1" rtl="0" lang="en-US">
                <a:solidFill>
                  <a:srgbClr val="1A334A"/>
                </a:solidFill>
                <a:latin typeface="Calibri"/>
                <a:ea typeface="Calibri"/>
                <a:cs typeface="Calibri"/>
              </a:rPr>
              <a:t>SPC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2016" y="3520439"/>
            <a:ext cx="2203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خوشه‌بندی طیفی. گراف را با بردارهای ویژه می‌بُرد.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1417320"/>
            <a:ext cx="2660904" cy="42976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1344" y="1417320"/>
            <a:ext cx="2660904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9944" y="1737360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2240280"/>
            <a:ext cx="2203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Aft>
                <a:spcPts val="0"/>
              </a:spcAft>
            </a:pPr>
            <a:r>
              <a:rPr sz="2200" b="1" rtl="0" lang="en-US">
                <a:solidFill>
                  <a:srgbClr val="1A334A"/>
                </a:solidFill>
                <a:latin typeface="Calibri"/>
                <a:ea typeface="Calibri"/>
                <a:cs typeface="Calibri"/>
              </a:rPr>
              <a:t>APC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3520439"/>
            <a:ext cx="2203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انتشار وابستگی. نمونه‌ها خودشان نماینده خوشه را انتخاب می‌کنند.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19272" y="1417320"/>
            <a:ext cx="2660904" cy="42976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19272" y="1417320"/>
            <a:ext cx="2660904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47872" y="1737360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47872" y="2240280"/>
            <a:ext cx="2203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Aft>
                <a:spcPts val="0"/>
              </a:spcAft>
            </a:pPr>
            <a:r>
              <a:rPr sz="2200" b="1" rtl="0" lang="en-US">
                <a:solidFill>
                  <a:srgbClr val="1A334A"/>
                </a:solidFill>
                <a:latin typeface="Calibri"/>
                <a:ea typeface="Calibri"/>
                <a:cs typeface="Calibri"/>
              </a:rPr>
              <a:t>DSet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47872" y="3520439"/>
            <a:ext cx="2203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مجموعه غالب. یک تکه خیلی متراکم را به‌عنوان خوشه برمی‌دارد.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2660904" cy="42976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417320"/>
            <a:ext cx="2660904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1737360"/>
            <a:ext cx="22037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240280"/>
            <a:ext cx="22037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spcAft>
                <a:spcPts val="0"/>
              </a:spcAft>
            </a:pPr>
            <a:r>
              <a:rPr sz="2200" b="1" rtl="0" lang="en-US">
                <a:solidFill>
                  <a:srgbClr val="1A334A"/>
                </a:solidFill>
                <a:latin typeface="Calibri"/>
                <a:ea typeface="Calibri"/>
                <a:cs typeface="Calibri"/>
              </a:rPr>
              <a:t>SPRG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520439"/>
            <a:ext cx="2203704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خوشه‌بندی طیفی با شباهت جنگل تصادفی. شباهت از جنگل می‌آید، بعد برش طیفی.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اصلاح آخر برچسب، بعد از برگشت به نمونه‌ها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۲۰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oncept_poli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616708"/>
            <a:ext cx="6958584" cy="23195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دایره گروه لم است، نه مرز خوشه.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اول همه اعضای یک گروه یک رنگ می‌گیرند، حتی اگر یکی‌شان میان همسایه‌های رنگ دیگر باشد.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این مرحله فقط رنگ خوشه همان نقطه را عوض می‌کند.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عضویت او در گروه لم دست نمی‌خورد. این مرحله جزو خود لم نیست.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بیست مجموعه واقعی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۲۱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80160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جدول ویژگی. سطر، نمونه. ستون، ویژگی عددی. برچسب واقعی فقط برای </a:t>
            </a:r>
            <a:r>
              <a:rPr sz="16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NMI.</a:t>
            </a:r>
            <a:r>
              <a:rPr sz="16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از ۱۰۶ نمونه تا حدود ۱۱ هزار. از ۲ کلاس تا ۱۰۰ کلاس.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9392" y="2148840"/>
            <a:ext cx="3614928" cy="3977639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89392" y="2148840"/>
            <a:ext cx="3614928" cy="109728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17992" y="2468880"/>
            <a:ext cx="3157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کامل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7992" y="2971800"/>
            <a:ext cx="3157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ده مجموعه، همه سطرها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7992" y="4251960"/>
            <a:ext cx="31577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زیر ۵۰۰ نمونه. Wine، Glass، Seeds، Thyroid، Sonar، Appendicitis، Spectf، Ecoli، Landmine، </a:t>
            </a:r>
            <a:r>
              <a:rPr sz="15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Libras.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73296" y="2148840"/>
            <a:ext cx="3614928" cy="3977639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3296" y="2148840"/>
            <a:ext cx="3614928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1896" y="2468880"/>
            <a:ext cx="3157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نمونه‌گیری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1896" y="2971800"/>
            <a:ext cx="3157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ده مجموعه، حدود ۴۰۰ سطر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1896" y="4251960"/>
            <a:ext cx="31577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حفظ نسبت کلاس‌ها. USPS، Landsat، Rice، Raisin، Spambase، Banknote، Leaves، Segment، Dutchnumeral، </a:t>
            </a:r>
            <a:r>
              <a:rPr sz="15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SCC.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148840"/>
            <a:ext cx="3614928" cy="3977639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2148840"/>
            <a:ext cx="3614928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468880"/>
            <a:ext cx="3157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سنجش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971800"/>
            <a:ext cx="3157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همان الگوریتم، دو راه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251960"/>
            <a:ext cx="31577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5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گراف اصلی و گراف کوچک. بهترین تنظیم هر خانه. دو خانه خالی </a:t>
            </a:r>
            <a:r>
              <a:rPr sz="15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Leaves.</a:t>
            </a:r>
            <a:r>
              <a:rPr sz="15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۷۸ مقایسه.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نمودار اختلاف: بالای صفر یعنی لم بهتر است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۲۲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" y="1170432"/>
            <a:ext cx="7360920" cy="5212080"/>
          </a:xfrm>
          <a:prstGeom prst="roundRect">
            <a:avLst>
              <a:gd name="adj" fmla="val 10000"/>
            </a:avLst>
          </a:prstGeom>
          <a:solidFill>
            <a:srgbClr val="DED5C4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0624" y="1261872"/>
            <a:ext cx="7178040" cy="50292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ig_delta_nmi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207380"/>
            <a:ext cx="6958584" cy="3138184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836408" y="1170432"/>
            <a:ext cx="4050791" cy="521208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54864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649456" y="1170432"/>
            <a:ext cx="91440" cy="521208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353312"/>
            <a:ext cx="3666744" cy="484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هر میله اختلاف </a:t>
            </a: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NMI</a:t>
            </a: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راه لم با راه پایه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بالای صفر: لم بهتر بوده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پایین صفر: راه پایه بهتر بوده است.</a:t>
            </a:r>
          </a:p>
          <a:p>
            <a:pPr algn="r" rtl="1">
              <a:spcAft>
                <a:spcPts val="1200"/>
              </a:spcAft>
              <a:buFont typeface="Calibri"/>
              <a:buChar char="•"/>
            </a:pPr>
            <a:r>
              <a:rPr sz="1800" b="0" rtl="0" lang="en-US">
                <a:solidFill>
                  <a:srgbClr val="1B1816"/>
                </a:solidFill>
                <a:latin typeface="Calibri"/>
                <a:ea typeface="Calibri"/>
                <a:cs typeface="Calibri"/>
              </a:rPr>
              <a:t>NMI</a:t>
            </a: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 نزدیکی خوشه پیش‌بینی‌شده به برچسب واقعی را می‌سنجد.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سه مجموعه با بیشترین بهبود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۲۳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9392" y="1554480"/>
            <a:ext cx="3614928" cy="41148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89392" y="1554480"/>
            <a:ext cx="3614928" cy="109728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17992" y="1874519"/>
            <a:ext cx="3157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شراب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7992" y="2377440"/>
            <a:ext cx="3157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پایه ضعیف، لم قوی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7992" y="3657600"/>
            <a:ext cx="31577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سه الگوریتم از حدود نیم به نزدیک ۰/۸۹ رسیدند.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3296" y="1554480"/>
            <a:ext cx="3614928" cy="41148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3296" y="1554480"/>
            <a:ext cx="3614928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01896" y="1874519"/>
            <a:ext cx="3157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آپاندیسیت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1896" y="2377440"/>
            <a:ext cx="3157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تطابق کامل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1896" y="3657600"/>
            <a:ext cx="31577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دو الگوریتم از پایه متوسط به ۱ رسیدند.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1554480"/>
            <a:ext cx="3614928" cy="411480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56032" dist="73152" dir="7200000" algn="ctr" rotWithShape="0">
              <a:srgbClr val="1A334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1554480"/>
            <a:ext cx="3614928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874519"/>
            <a:ext cx="31577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400" b="0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اسکناس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377440"/>
            <a:ext cx="315772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طیفی ضعیف بود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657600"/>
            <a:ext cx="315772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8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خوشه‌بندی طیفی از حدود ۰/۱۹ به حدود ۰/۸۲ رسید.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EBE4D6"/>
              </a:gs>
              <a:gs pos="100000">
                <a:srgbClr val="F7F1E6"/>
              </a:gs>
            </a:gsLst>
            <a:lin scaled="0" ang="151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-1280160"/>
            <a:ext cx="4754880" cy="4754880"/>
          </a:xfrm>
          <a:prstGeom prst="ellipse">
            <a:avLst/>
          </a:prstGeom>
          <a:solidFill>
            <a:srgbClr val="A33B24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solidFill>
            <a:srgbClr val="1A334A">
              <a:alpha val="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256032"/>
            <a:ext cx="11384280" cy="841248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01168" dist="45720" dir="7200000" algn="ctr" rotWithShape="0">
              <a:srgbClr val="1A334A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84048"/>
            <a:ext cx="10728655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6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جمع‌بندی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772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1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خوشه‌بندی گرافی با لم نظم زمردی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74375" y="6473952"/>
            <a:ext cx="868680" cy="256032"/>
          </a:xfrm>
          <a:prstGeom prst="roundRect">
            <a:avLst>
              <a:gd name="adj" fmla="val 10000"/>
            </a:avLst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74375" y="6455664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1100" b="0" rtl="1" lang="fa-IR">
                <a:solidFill>
                  <a:srgbClr val="FFFFFF"/>
                </a:solidFill>
                <a:latin typeface="Calibri"/>
                <a:ea typeface="B Nazanin"/>
                <a:cs typeface="B Nazanin"/>
              </a:rPr>
              <a:t>۲۴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16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مقایسه با راه پایه خود پروژه. مجموعه‌های نمونه‌گیری‌شده، جدا از عدد مقاله.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103120"/>
            <a:ext cx="3611880" cy="28803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92608" dist="91440" dir="7200000" algn="ctr" rotWithShape="0">
              <a:srgbClr val="1A33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2103120"/>
            <a:ext cx="3611880" cy="109728"/>
          </a:xfrm>
          <a:prstGeom prst="rect">
            <a:avLst/>
          </a:prstGeom>
          <a:solidFill>
            <a:srgbClr val="2C5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2377440"/>
            <a:ext cx="3611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6000" b="1" rtl="1" lang="fa-IR">
                <a:solidFill>
                  <a:srgbClr val="2C5E52"/>
                </a:solidFill>
                <a:latin typeface="Calibri"/>
                <a:ea typeface="B Nazanin"/>
                <a:cs typeface="B Nazanin"/>
              </a:rPr>
              <a:t>۶۰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93192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گراف کوچک بهتر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3611880" cy="28803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92608" dist="91440" dir="7200000" algn="ctr" rotWithShape="0">
              <a:srgbClr val="1A33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2103120"/>
            <a:ext cx="3611880" cy="109728"/>
          </a:xfrm>
          <a:prstGeom prst="rect">
            <a:avLst/>
          </a:prstGeom>
          <a:solidFill>
            <a:srgbClr val="1A3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2377440"/>
            <a:ext cx="3611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60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0" y="393192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برابر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103120"/>
            <a:ext cx="3611880" cy="288036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292608" dist="91440" dir="7200000" algn="ctr" rotWithShape="0">
              <a:srgbClr val="1A334A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103120"/>
            <a:ext cx="3611880" cy="109728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377440"/>
            <a:ext cx="3611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6000" b="1" rtl="1" lang="fa-IR">
                <a:solidFill>
                  <a:srgbClr val="A33B24"/>
                </a:solidFill>
                <a:latin typeface="Calibri"/>
                <a:ea typeface="B Nazanin"/>
                <a:cs typeface="B Nazanin"/>
              </a:rPr>
              <a:t>۱۵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3931920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0"/>
              </a:spcAft>
            </a:pPr>
            <a:r>
              <a:rPr sz="2000" b="0" rtl="1" lang="fa-IR">
                <a:solidFill>
                  <a:srgbClr val="1B1816"/>
                </a:solidFill>
                <a:latin typeface="Calibri"/>
                <a:ea typeface="B Nazanin"/>
                <a:cs typeface="B Nazanin"/>
              </a:rPr>
              <a:t>گراف اصلی بهتر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D1C2C"/>
              </a:gs>
              <a:gs pos="100000">
                <a:srgbClr val="1A334A"/>
              </a:gs>
            </a:gsLst>
            <a:lin scaled="0" ang="1452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12480" y="-1097280"/>
            <a:ext cx="5120640" cy="5120640"/>
          </a:xfrm>
          <a:prstGeom prst="ellipse">
            <a:avLst/>
          </a:prstGeom>
          <a:solidFill>
            <a:srgbClr val="A33B24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645920" y="3840480"/>
            <a:ext cx="4389120" cy="4389120"/>
          </a:xfrm>
          <a:prstGeom prst="ellipse">
            <a:avLst/>
          </a:prstGeom>
          <a:solidFill>
            <a:srgbClr val="2C5E52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1874519"/>
            <a:ext cx="9738360" cy="3063240"/>
          </a:xfrm>
          <a:prstGeom prst="roundRect">
            <a:avLst>
              <a:gd name="adj" fmla="val 10000"/>
            </a:avLst>
          </a:prstGeom>
          <a:solidFill>
            <a:srgbClr val="FFFCF8"/>
          </a:solidFill>
          <a:ln>
            <a:noFill/>
          </a:ln>
          <a:effectLst>
            <a:outerShdw blurRad="457200" dist="146304" dir="7200000" algn="ctr" rotWithShape="0">
              <a:srgbClr val="000000">
                <a:alpha val="3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945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4400" b="1" rtl="1" lang="fa-IR">
                <a:solidFill>
                  <a:srgbClr val="1A334A"/>
                </a:solidFill>
                <a:latin typeface="Calibri"/>
                <a:ea typeface="B Nazanin"/>
                <a:cs typeface="B Nazanin"/>
              </a:rPr>
              <a:t>ممنون از توجه شما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3520440"/>
            <a:ext cx="2011680" cy="82296"/>
          </a:xfrm>
          <a:prstGeom prst="rect">
            <a:avLst/>
          </a:prstGeom>
          <a:solidFill>
            <a:srgbClr val="A33B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794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sz="2000" b="0" rtl="1" lang="fa-IR">
                <a:solidFill>
                  <a:srgbClr val="6B645C"/>
                </a:solidFill>
                <a:latin typeface="Calibri"/>
                <a:ea typeface="B Nazanin"/>
                <a:cs typeface="B Nazanin"/>
              </a:rPr>
              <a:t>با سپاس از دکتر زینب مالکی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