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EBE4D6"/>
              </a:gs>
              <a:gs pos="100000">
                <a:srgbClr val="F7F1E6"/>
              </a:gs>
            </a:gsLst>
            <a:lin scaled="0" ang="1512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961120" y="-1280160"/>
            <a:ext cx="4754880" cy="4754880"/>
          </a:xfrm>
          <a:prstGeom prst="ellipse">
            <a:avLst/>
          </a:prstGeom>
          <a:solidFill>
            <a:srgbClr val="A33B24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63040" y="4206240"/>
            <a:ext cx="4023360" cy="4023360"/>
          </a:xfrm>
          <a:prstGeom prst="ellipse">
            <a:avLst/>
          </a:prstGeom>
          <a:solidFill>
            <a:srgbClr val="1A334A">
              <a:alpha val="9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A33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384048"/>
            <a:ext cx="11292840" cy="4297680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411480" dist="128016" dir="7200000" algn="ctr" rotWithShape="0">
              <a:srgbClr val="1A334A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ut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566928"/>
            <a:ext cx="868680" cy="8686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7240" y="640080"/>
            <a:ext cx="9326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500" b="0" rtl="1" lang="fa-IR">
                <a:solidFill>
                  <a:srgbClr val="A33B24"/>
                </a:solidFill>
                <a:latin typeface="Calibri"/>
                <a:ea typeface="B Nazanin"/>
                <a:cs typeface="B Nazanin"/>
              </a:rPr>
              <a:t>دانشگاه صنعتی اصفهان  |  دانشکده مهندسی برق و کامپیوتر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325880"/>
            <a:ext cx="1060704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600" b="1" rtl="1" lang="fa-IR">
                <a:solidFill>
                  <a:srgbClr val="1A334A"/>
                </a:solidFill>
                <a:latin typeface="Calibri"/>
                <a:ea typeface="B Nazanin"/>
                <a:cs typeface="B Nazanin"/>
              </a:rPr>
              <a:t>طبقه‌بندی مبتنی بر گراف</a:t>
            </a:r>
          </a:p>
          <a:p>
            <a:pPr algn="r" rtl="1">
              <a:spcAft>
                <a:spcPts val="600"/>
              </a:spcAft>
            </a:pPr>
            <a:r>
              <a:rPr sz="3600" b="1" rtl="1" lang="fa-IR">
                <a:solidFill>
                  <a:srgbClr val="1A334A"/>
                </a:solidFill>
                <a:latin typeface="Calibri"/>
                <a:ea typeface="B Nazanin"/>
                <a:cs typeface="B Nazanin"/>
              </a:rPr>
              <a:t>با استفاده از لم نظم زمردی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5204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0">
              <a:spcAft>
                <a:spcPts val="0"/>
              </a:spcAft>
            </a:pPr>
            <a:r>
              <a:rPr sz="1600" b="0" rtl="0" lang="en-US">
                <a:solidFill>
                  <a:srgbClr val="6B645C"/>
                </a:solidFill>
                <a:latin typeface="Calibri"/>
                <a:ea typeface="Calibri"/>
                <a:cs typeface="Calibri"/>
              </a:rPr>
              <a:t>Szemerédi regularity lemma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4069080"/>
            <a:ext cx="2194560" cy="73152"/>
          </a:xfrm>
          <a:prstGeom prst="rect">
            <a:avLst/>
          </a:prstGeom>
          <a:solidFill>
            <a:srgbClr val="A33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9235440" y="4937760"/>
            <a:ext cx="2761488" cy="1417320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201168" dist="54864" dir="7200000" algn="ctr" rotWithShape="0">
              <a:srgbClr val="1A334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00032" y="5074920"/>
            <a:ext cx="2468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200" b="0" rtl="1" lang="fa-IR">
                <a:solidFill>
                  <a:srgbClr val="A33B24"/>
                </a:solidFill>
                <a:latin typeface="Calibri"/>
                <a:ea typeface="B Nazanin"/>
                <a:cs typeface="B Nazanin"/>
              </a:rPr>
              <a:t>دانشجو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00032" y="5394960"/>
            <a:ext cx="24688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600" b="1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سید محمد فاطمی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4937760"/>
            <a:ext cx="2761488" cy="1417320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201168" dist="54864" dir="7200000" algn="ctr" rotWithShape="0">
              <a:srgbClr val="1A334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73952" y="5074920"/>
            <a:ext cx="2468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200" b="0" rtl="1" lang="fa-IR">
                <a:solidFill>
                  <a:srgbClr val="A33B24"/>
                </a:solidFill>
                <a:latin typeface="Calibri"/>
                <a:ea typeface="B Nazanin"/>
                <a:cs typeface="B Nazanin"/>
              </a:rPr>
              <a:t>سال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3952" y="5394960"/>
            <a:ext cx="24688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600" b="1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۱۴۰۵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383280" y="4937760"/>
            <a:ext cx="2761488" cy="1417320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201168" dist="54864" dir="7200000" algn="ctr" rotWithShape="0">
              <a:srgbClr val="1A334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47872" y="5074920"/>
            <a:ext cx="2468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200" b="0" rtl="1" lang="fa-IR">
                <a:solidFill>
                  <a:srgbClr val="A33B24"/>
                </a:solidFill>
                <a:latin typeface="Calibri"/>
                <a:ea typeface="B Nazanin"/>
                <a:cs typeface="B Nazanin"/>
              </a:rPr>
              <a:t>مقطع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47872" y="5394960"/>
            <a:ext cx="24688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600" b="1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کارشناسی مهندسی کامپیوتر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937760"/>
            <a:ext cx="2761488" cy="1417320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201168" dist="54864" dir="7200000" algn="ctr" rotWithShape="0">
              <a:srgbClr val="1A334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1792" y="5074920"/>
            <a:ext cx="2468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200" b="0" rtl="1" lang="fa-IR">
                <a:solidFill>
                  <a:srgbClr val="A33B24"/>
                </a:solidFill>
                <a:latin typeface="Calibri"/>
                <a:ea typeface="B Nazanin"/>
                <a:cs typeface="B Nazanin"/>
              </a:rPr>
              <a:t>استاد راهنما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1792" y="5394960"/>
            <a:ext cx="24688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600" b="1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دکتر زینب مالکی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EBE4D6"/>
              </a:gs>
              <a:gs pos="100000">
                <a:srgbClr val="F7F1E6"/>
              </a:gs>
            </a:gsLst>
            <a:lin scaled="0" ang="1512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961120" y="-1280160"/>
            <a:ext cx="4754880" cy="4754880"/>
          </a:xfrm>
          <a:prstGeom prst="ellipse">
            <a:avLst/>
          </a:prstGeom>
          <a:solidFill>
            <a:srgbClr val="A33B24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63040" y="4206240"/>
            <a:ext cx="4023360" cy="4023360"/>
          </a:xfrm>
          <a:prstGeom prst="ellipse">
            <a:avLst/>
          </a:prstGeom>
          <a:solidFill>
            <a:srgbClr val="1A334A">
              <a:alpha val="9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A33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11480" y="256032"/>
            <a:ext cx="11384280" cy="841248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201168" dist="45720" dir="7200000" algn="ctr" rotWithShape="0">
              <a:srgbClr val="1A334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384048"/>
            <a:ext cx="1072865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2600" b="1" rtl="1" lang="fa-IR">
                <a:solidFill>
                  <a:srgbClr val="1A334A"/>
                </a:solidFill>
                <a:latin typeface="Calibri"/>
                <a:ea typeface="B Nazanin"/>
                <a:cs typeface="B Nazanin"/>
              </a:rPr>
              <a:t>اهمیت و بیان مسئله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510528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100" b="0" rtl="1" lang="fa-IR">
                <a:solidFill>
                  <a:srgbClr val="6B645C"/>
                </a:solidFill>
                <a:latin typeface="Calibri"/>
                <a:ea typeface="B Nazanin"/>
                <a:cs typeface="B Nazanin"/>
              </a:rPr>
              <a:t>خوشه‌بندی گرافی با لم نظم زمردی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774375" y="6473952"/>
            <a:ext cx="868680" cy="256032"/>
          </a:xfrm>
          <a:prstGeom prst="roundRect">
            <a:avLst>
              <a:gd name="adj" fmla="val 10000"/>
            </a:avLst>
          </a:prstGeom>
          <a:solidFill>
            <a:srgbClr val="1A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774375" y="645566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>
              <a:spcAft>
                <a:spcPts val="0"/>
              </a:spcAft>
            </a:pPr>
            <a:r>
              <a:rPr sz="1100" b="0" rtl="1" lang="fa-IR">
                <a:solidFill>
                  <a:srgbClr val="FFFFFF"/>
                </a:solidFill>
                <a:latin typeface="Calibri"/>
                <a:ea typeface="B Nazanin"/>
                <a:cs typeface="B Nazanin"/>
              </a:rPr>
              <a:t>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806440" y="1243584"/>
            <a:ext cx="5897880" cy="5074920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256032" dist="73152" dir="7200000" algn="ctr" rotWithShape="0">
              <a:srgbClr val="1A334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1612880" y="1243584"/>
            <a:ext cx="91440" cy="5074920"/>
          </a:xfrm>
          <a:prstGeom prst="rect">
            <a:avLst/>
          </a:prstGeom>
          <a:solidFill>
            <a:srgbClr val="A33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35040" y="1417320"/>
            <a:ext cx="539496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1600"/>
              </a:spcAft>
            </a:pPr>
            <a:r>
              <a:rPr sz="20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خیلی از داده‌ها برچسب آماده ندارند. خوشه‌بندی برای همین مهم است: نمونه‌های شبیه باید خودشان یک گروه شوند، مثل مشتری‌های هم‌سلیقه یا تصویرهای هم‌خانواده.</a:t>
            </a:r>
          </a:p>
          <a:p>
            <a:pPr algn="r" rtl="1">
              <a:spcAft>
                <a:spcPts val="1600"/>
              </a:spcAft>
            </a:pPr>
            <a:r>
              <a:rPr sz="20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یک راه جاافتاده برای دیدن این شباهت، ساختن گراف است. هر نمونه یک رأس می‌شود و یال میان دو رأس می‌گوید چقدر به هم نزدیک‌اند.</a:t>
            </a:r>
          </a:p>
          <a:p>
            <a:pPr algn="r" rtl="1">
              <a:spcAft>
                <a:spcPts val="1600"/>
              </a:spcAft>
            </a:pPr>
            <a:r>
              <a:rPr sz="20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گره کار از همین‌جا شروع می‌شود. همین که تعداد نمونه‌ها بالا برود، گرافی که همسایگی را نشان می‌داد دیگر در حافظه و زمان جا نمی‌شود.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8912" y="1243584"/>
            <a:ext cx="5166360" cy="5074920"/>
          </a:xfrm>
          <a:prstGeom prst="roundRect">
            <a:avLst>
              <a:gd name="adj" fmla="val 10000"/>
            </a:avLst>
          </a:prstGeom>
          <a:solidFill>
            <a:srgbClr val="DED5C4"/>
          </a:solidFill>
          <a:ln>
            <a:noFill/>
          </a:ln>
          <a:effectLst>
            <a:outerShdw blurRad="256032" dist="73152" dir="7200000" algn="ctr" rotWithShape="0">
              <a:srgbClr val="1A334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66928" y="1371600"/>
            <a:ext cx="4910328" cy="4818888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concept_why_grap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8400" y="1691640"/>
            <a:ext cx="3698240" cy="416052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EBE4D6"/>
              </a:gs>
              <a:gs pos="100000">
                <a:srgbClr val="F7F1E6"/>
              </a:gs>
            </a:gsLst>
            <a:lin scaled="0" ang="1512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961120" y="-1280160"/>
            <a:ext cx="4754880" cy="4754880"/>
          </a:xfrm>
          <a:prstGeom prst="ellipse">
            <a:avLst/>
          </a:prstGeom>
          <a:solidFill>
            <a:srgbClr val="A33B24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63040" y="4206240"/>
            <a:ext cx="4023360" cy="4023360"/>
          </a:xfrm>
          <a:prstGeom prst="ellipse">
            <a:avLst/>
          </a:prstGeom>
          <a:solidFill>
            <a:srgbClr val="1A334A">
              <a:alpha val="9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A33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11480" y="256032"/>
            <a:ext cx="11384280" cy="841248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201168" dist="45720" dir="7200000" algn="ctr" rotWithShape="0">
              <a:srgbClr val="1A334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384048"/>
            <a:ext cx="1072865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2600" b="1" rtl="1" lang="fa-IR">
                <a:solidFill>
                  <a:srgbClr val="1A334A"/>
                </a:solidFill>
                <a:latin typeface="Calibri"/>
                <a:ea typeface="B Nazanin"/>
                <a:cs typeface="B Nazanin"/>
              </a:rPr>
              <a:t>چالش‌ها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510528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100" b="0" rtl="1" lang="fa-IR">
                <a:solidFill>
                  <a:srgbClr val="6B645C"/>
                </a:solidFill>
                <a:latin typeface="Calibri"/>
                <a:ea typeface="B Nazanin"/>
                <a:cs typeface="B Nazanin"/>
              </a:rPr>
              <a:t>خوشه‌بندی گرافی با لم نظم زمردی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774375" y="6473952"/>
            <a:ext cx="868680" cy="256032"/>
          </a:xfrm>
          <a:prstGeom prst="roundRect">
            <a:avLst>
              <a:gd name="adj" fmla="val 10000"/>
            </a:avLst>
          </a:prstGeom>
          <a:solidFill>
            <a:srgbClr val="1A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774375" y="645566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>
              <a:spcAft>
                <a:spcPts val="0"/>
              </a:spcAft>
            </a:pPr>
            <a:r>
              <a:rPr sz="1100" b="0" rtl="1" lang="fa-IR">
                <a:solidFill>
                  <a:srgbClr val="FFFFFF"/>
                </a:solidFill>
                <a:latin typeface="Calibri"/>
                <a:ea typeface="B Nazanin"/>
                <a:cs typeface="B Nazanin"/>
              </a:rPr>
              <a:t>۳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806440" y="1243584"/>
            <a:ext cx="5897880" cy="5074920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256032" dist="73152" dir="7200000" algn="ctr" rotWithShape="0">
              <a:srgbClr val="1A334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1612880" y="1243584"/>
            <a:ext cx="91440" cy="5074920"/>
          </a:xfrm>
          <a:prstGeom prst="rect">
            <a:avLst/>
          </a:prstGeom>
          <a:solidFill>
            <a:srgbClr val="A33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35040" y="155448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1400"/>
              </a:spcAft>
              <a:buFont typeface="Calibri"/>
              <a:buChar char="•"/>
            </a:pPr>
            <a:r>
              <a:rPr sz="20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برای هر دو نمونه یک عدد شباهت حساب می‌شود و همه این عددها باید بمانند.</a:t>
            </a:r>
          </a:p>
          <a:p>
            <a:pPr algn="r" rtl="1">
              <a:spcAft>
                <a:spcPts val="1400"/>
              </a:spcAft>
              <a:buFont typeface="Calibri"/>
              <a:buChar char="•"/>
            </a:pPr>
            <a:r>
              <a:rPr sz="20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با </a:t>
            </a:r>
            <a:r>
              <a:rPr sz="2000" b="0" rtl="0" lang="en-US">
                <a:solidFill>
                  <a:srgbClr val="1B1816"/>
                </a:solidFill>
                <a:latin typeface="Calibri"/>
                <a:ea typeface="Calibri"/>
                <a:cs typeface="Calibri"/>
              </a:rPr>
              <a:t>n</a:t>
            </a:r>
            <a:r>
              <a:rPr sz="20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 نمونه، تعداد این عددها از مرتبه </a:t>
            </a:r>
            <a:r>
              <a:rPr sz="2000" b="0" rtl="0" lang="en-US">
                <a:solidFill>
                  <a:srgbClr val="1B1816"/>
                </a:solidFill>
                <a:latin typeface="Calibri"/>
                <a:ea typeface="Calibri"/>
                <a:cs typeface="Calibri"/>
              </a:rPr>
              <a:t>n²</a:t>
            </a:r>
            <a:r>
              <a:rPr sz="20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 است؛ حافظه خیلی زود پر می‌شود.</a:t>
            </a:r>
          </a:p>
          <a:p>
            <a:pPr algn="r" rtl="1">
              <a:spcAft>
                <a:spcPts val="1400"/>
              </a:spcAft>
              <a:buFont typeface="Calibri"/>
              <a:buChar char="•"/>
            </a:pPr>
            <a:r>
              <a:rPr sz="20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بخش بزرگی از الگوریتم‌های خوشه‌بندی گرافی زمانی نزدیک </a:t>
            </a:r>
            <a:r>
              <a:rPr sz="2000" b="0" rtl="0" lang="en-US">
                <a:solidFill>
                  <a:srgbClr val="1B1816"/>
                </a:solidFill>
                <a:latin typeface="Calibri"/>
                <a:ea typeface="Calibri"/>
                <a:cs typeface="Calibri"/>
              </a:rPr>
              <a:t>n³</a:t>
            </a:r>
            <a:r>
              <a:rPr sz="20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 دارند.</a:t>
            </a:r>
          </a:p>
          <a:p>
            <a:pPr algn="r" rtl="1">
              <a:spcAft>
                <a:spcPts val="1400"/>
              </a:spcAft>
              <a:buFont typeface="Calibri"/>
              <a:buChar char="•"/>
            </a:pPr>
            <a:r>
              <a:rPr sz="20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مثلاً برای حدود یازده هزار نمونه، ماتریس شباهت نزدیک صد و بیست میلیون خانه دارد.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8912" y="1243584"/>
            <a:ext cx="5166360" cy="5074920"/>
          </a:xfrm>
          <a:prstGeom prst="roundRect">
            <a:avLst>
              <a:gd name="adj" fmla="val 10000"/>
            </a:avLst>
          </a:prstGeom>
          <a:solidFill>
            <a:srgbClr val="DED5C4"/>
          </a:solidFill>
          <a:ln>
            <a:noFill/>
          </a:ln>
          <a:effectLst>
            <a:outerShdw blurRad="256032" dist="73152" dir="7200000" algn="ctr" rotWithShape="0">
              <a:srgbClr val="1A334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66928" y="1371600"/>
            <a:ext cx="4910328" cy="4818888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concept_similarity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8510" y="1691640"/>
            <a:ext cx="3718019" cy="416052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EBE4D6"/>
              </a:gs>
              <a:gs pos="100000">
                <a:srgbClr val="F7F1E6"/>
              </a:gs>
            </a:gsLst>
            <a:lin scaled="0" ang="1512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961120" y="-1280160"/>
            <a:ext cx="4754880" cy="4754880"/>
          </a:xfrm>
          <a:prstGeom prst="ellipse">
            <a:avLst/>
          </a:prstGeom>
          <a:solidFill>
            <a:srgbClr val="A33B24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63040" y="4206240"/>
            <a:ext cx="4023360" cy="4023360"/>
          </a:xfrm>
          <a:prstGeom prst="ellipse">
            <a:avLst/>
          </a:prstGeom>
          <a:solidFill>
            <a:srgbClr val="1A334A">
              <a:alpha val="9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A33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11480" y="256032"/>
            <a:ext cx="11384280" cy="841248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201168" dist="45720" dir="7200000" algn="ctr" rotWithShape="0">
              <a:srgbClr val="1A334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384048"/>
            <a:ext cx="1072865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2600" b="1" rtl="1" lang="fa-IR">
                <a:solidFill>
                  <a:srgbClr val="1A334A"/>
                </a:solidFill>
                <a:latin typeface="Calibri"/>
                <a:ea typeface="B Nazanin"/>
                <a:cs typeface="B Nazanin"/>
              </a:rPr>
              <a:t>متودولوژی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510528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100" b="0" rtl="1" lang="fa-IR">
                <a:solidFill>
                  <a:srgbClr val="6B645C"/>
                </a:solidFill>
                <a:latin typeface="Calibri"/>
                <a:ea typeface="B Nazanin"/>
                <a:cs typeface="B Nazanin"/>
              </a:rPr>
              <a:t>خوشه‌بندی گرافی با لم نظم زمردی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774375" y="6473952"/>
            <a:ext cx="868680" cy="256032"/>
          </a:xfrm>
          <a:prstGeom prst="roundRect">
            <a:avLst>
              <a:gd name="adj" fmla="val 10000"/>
            </a:avLst>
          </a:prstGeom>
          <a:solidFill>
            <a:srgbClr val="1A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774375" y="645566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>
              <a:spcAft>
                <a:spcPts val="0"/>
              </a:spcAft>
            </a:pPr>
            <a:r>
              <a:rPr sz="1100" b="0" rtl="1" lang="fa-IR">
                <a:solidFill>
                  <a:srgbClr val="FFFFFF"/>
                </a:solidFill>
                <a:latin typeface="Calibri"/>
                <a:ea typeface="B Nazanin"/>
                <a:cs typeface="B Nazanin"/>
              </a:rPr>
              <a:t>۴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806440" y="1243584"/>
            <a:ext cx="5897880" cy="5074920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256032" dist="73152" dir="7200000" algn="ctr" rotWithShape="0">
              <a:srgbClr val="1A334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1612880" y="1243584"/>
            <a:ext cx="91440" cy="5074920"/>
          </a:xfrm>
          <a:prstGeom prst="rect">
            <a:avLst/>
          </a:prstGeom>
          <a:solidFill>
            <a:srgbClr val="A33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35040" y="155448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1200"/>
              </a:spcAft>
              <a:buFont typeface="Calibri"/>
              <a:buChar char="•"/>
            </a:pP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گراف شباهت یک بار ساخته می‌شود. هر دو راه آزمایش از همین گراف شروع می‌کنند.</a:t>
            </a:r>
          </a:p>
          <a:p>
            <a:pPr algn="r" rtl="1">
              <a:spcAft>
                <a:spcPts val="1200"/>
              </a:spcAft>
              <a:buFont typeface="Calibri"/>
              <a:buChar char="•"/>
            </a:pP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راه پایه: همان الگوریتم، مستقیم روی گراف اصلی.</a:t>
            </a:r>
          </a:p>
          <a:p>
            <a:pPr algn="r" rtl="1">
              <a:spcAft>
                <a:spcPts val="1200"/>
              </a:spcAft>
              <a:buFont typeface="Calibri"/>
              <a:buChar char="•"/>
            </a:pP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راه لم: تقسیم رأس‌ها به گروه‌های هم‌اندازه، خلاصه رابطه گروه‌ها با یک چگالی، بعد خوشه‌بندی روی گراف کوچک.</a:t>
            </a:r>
          </a:p>
          <a:p>
            <a:pPr algn="r" rtl="1">
              <a:spcAft>
                <a:spcPts val="1200"/>
              </a:spcAft>
              <a:buFont typeface="Calibri"/>
              <a:buChar char="•"/>
            </a:pP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برچسب گراف کوچک به نمونه‌ها برمی‌گردد. کیفیت هر دو راه با </a:t>
            </a:r>
            <a:r>
              <a:rPr sz="1800" b="0" rtl="0" lang="en-US">
                <a:solidFill>
                  <a:srgbClr val="1B1816"/>
                </a:solidFill>
                <a:latin typeface="Calibri"/>
                <a:ea typeface="Calibri"/>
                <a:cs typeface="Calibri"/>
              </a:rPr>
              <a:t>NMI</a:t>
            </a: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 و برچسب واقعی سنجیده می‌شود.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8912" y="1243584"/>
            <a:ext cx="5166360" cy="5074920"/>
          </a:xfrm>
          <a:prstGeom prst="roundRect">
            <a:avLst>
              <a:gd name="adj" fmla="val 10000"/>
            </a:avLst>
          </a:prstGeom>
          <a:solidFill>
            <a:srgbClr val="DED5C4"/>
          </a:solidFill>
          <a:ln>
            <a:noFill/>
          </a:ln>
          <a:effectLst>
            <a:outerShdw blurRad="256032" dist="73152" dir="7200000" algn="ctr" rotWithShape="0">
              <a:srgbClr val="1A334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66928" y="1371600"/>
            <a:ext cx="4910328" cy="4818888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concept_why_lem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8400" y="1691640"/>
            <a:ext cx="3698240" cy="416052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EBE4D6"/>
              </a:gs>
              <a:gs pos="100000">
                <a:srgbClr val="F7F1E6"/>
              </a:gs>
            </a:gsLst>
            <a:lin scaled="0" ang="1512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961120" y="-1280160"/>
            <a:ext cx="4754880" cy="4754880"/>
          </a:xfrm>
          <a:prstGeom prst="ellipse">
            <a:avLst/>
          </a:prstGeom>
          <a:solidFill>
            <a:srgbClr val="A33B24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63040" y="4206240"/>
            <a:ext cx="4023360" cy="4023360"/>
          </a:xfrm>
          <a:prstGeom prst="ellipse">
            <a:avLst/>
          </a:prstGeom>
          <a:solidFill>
            <a:srgbClr val="1A334A">
              <a:alpha val="9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A33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11480" y="256032"/>
            <a:ext cx="11384280" cy="841248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201168" dist="45720" dir="7200000" algn="ctr" rotWithShape="0">
              <a:srgbClr val="1A334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384048"/>
            <a:ext cx="1072865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2600" b="1" rtl="1" lang="fa-IR">
                <a:solidFill>
                  <a:srgbClr val="1A334A"/>
                </a:solidFill>
                <a:latin typeface="Calibri"/>
                <a:ea typeface="B Nazanin"/>
                <a:cs typeface="B Nazanin"/>
              </a:rPr>
              <a:t>قدم اول: گروه‌های هم‌اندازه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510528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100" b="0" rtl="1" lang="fa-IR">
                <a:solidFill>
                  <a:srgbClr val="6B645C"/>
                </a:solidFill>
                <a:latin typeface="Calibri"/>
                <a:ea typeface="B Nazanin"/>
                <a:cs typeface="B Nazanin"/>
              </a:rPr>
              <a:t>خوشه‌بندی گرافی با لم نظم زمردی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774375" y="6473952"/>
            <a:ext cx="868680" cy="256032"/>
          </a:xfrm>
          <a:prstGeom prst="roundRect">
            <a:avLst>
              <a:gd name="adj" fmla="val 10000"/>
            </a:avLst>
          </a:prstGeom>
          <a:solidFill>
            <a:srgbClr val="1A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774375" y="645566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>
              <a:spcAft>
                <a:spcPts val="0"/>
              </a:spcAft>
            </a:pPr>
            <a:r>
              <a:rPr sz="1100" b="0" rtl="1" lang="fa-IR">
                <a:solidFill>
                  <a:srgbClr val="FFFFFF"/>
                </a:solidFill>
                <a:latin typeface="Calibri"/>
                <a:ea typeface="B Nazanin"/>
                <a:cs typeface="B Nazanin"/>
              </a:rPr>
              <a:t>۵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9184" y="1170432"/>
            <a:ext cx="7360920" cy="5212080"/>
          </a:xfrm>
          <a:prstGeom prst="roundRect">
            <a:avLst>
              <a:gd name="adj" fmla="val 10000"/>
            </a:avLst>
          </a:prstGeom>
          <a:solidFill>
            <a:srgbClr val="DED5C4"/>
          </a:solidFill>
          <a:ln>
            <a:noFill/>
          </a:ln>
          <a:effectLst>
            <a:outerShdw blurRad="201168" dist="54864" dir="7200000" algn="ctr" rotWithShape="0">
              <a:srgbClr val="1A334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20624" y="1261872"/>
            <a:ext cx="7178040" cy="5029200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concept_parti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" y="1878676"/>
            <a:ext cx="6958584" cy="3795591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7836408" y="1170432"/>
            <a:ext cx="4050791" cy="5212080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201168" dist="54864" dir="7200000" algn="ctr" rotWithShape="0">
              <a:srgbClr val="1A334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649456" y="1170432"/>
            <a:ext cx="91440" cy="5212080"/>
          </a:xfrm>
          <a:prstGeom prst="rect">
            <a:avLst/>
          </a:prstGeom>
          <a:solidFill>
            <a:srgbClr val="A33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01000" y="1353312"/>
            <a:ext cx="3666744" cy="4846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1200"/>
              </a:spcAft>
              <a:buFont typeface="Calibri"/>
              <a:buChar char="•"/>
            </a:pP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لم اول رأس‌ها را به چند گروه تقریباً هم‌اندازه تقسیم می‌کند.</a:t>
            </a:r>
          </a:p>
          <a:p>
            <a:pPr algn="r" rtl="1">
              <a:spcAft>
                <a:spcPts val="1200"/>
              </a:spcAft>
              <a:buFont typeface="Calibri"/>
              <a:buChar char="•"/>
            </a:pP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لکه‌های رنگی همین گروه‌ها هستند.</a:t>
            </a:r>
          </a:p>
          <a:p>
            <a:pPr algn="r" rtl="1">
              <a:spcAft>
                <a:spcPts val="1200"/>
              </a:spcAft>
              <a:buFont typeface="Calibri"/>
              <a:buChar char="•"/>
            </a:pP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نقطه‌های خاکستری در هیچ گروه تمیزی جا نشده‌اند.</a:t>
            </a:r>
          </a:p>
          <a:p>
            <a:pPr algn="r" rtl="1">
              <a:spcAft>
                <a:spcPts val="1200"/>
              </a:spcAft>
              <a:buFont typeface="Calibri"/>
              <a:buChar char="•"/>
            </a:pP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آن ته مانده را مجموعه استثنایی می‌نامند.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EBE4D6"/>
              </a:gs>
              <a:gs pos="100000">
                <a:srgbClr val="F7F1E6"/>
              </a:gs>
            </a:gsLst>
            <a:lin scaled="0" ang="1512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961120" y="-1280160"/>
            <a:ext cx="4754880" cy="4754880"/>
          </a:xfrm>
          <a:prstGeom prst="ellipse">
            <a:avLst/>
          </a:prstGeom>
          <a:solidFill>
            <a:srgbClr val="A33B24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63040" y="4206240"/>
            <a:ext cx="4023360" cy="4023360"/>
          </a:xfrm>
          <a:prstGeom prst="ellipse">
            <a:avLst/>
          </a:prstGeom>
          <a:solidFill>
            <a:srgbClr val="1A334A">
              <a:alpha val="9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A33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11480" y="256032"/>
            <a:ext cx="11384280" cy="841248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201168" dist="45720" dir="7200000" algn="ctr" rotWithShape="0">
              <a:srgbClr val="1A334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384048"/>
            <a:ext cx="1072865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2600" b="1" rtl="1" lang="fa-IR">
                <a:solidFill>
                  <a:srgbClr val="1A334A"/>
                </a:solidFill>
                <a:latin typeface="Calibri"/>
                <a:ea typeface="B Nazanin"/>
                <a:cs typeface="B Nazanin"/>
              </a:rPr>
              <a:t>جفت منظم: یال‌ها یکنواخت‌اند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510528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100" b="0" rtl="1" lang="fa-IR">
                <a:solidFill>
                  <a:srgbClr val="6B645C"/>
                </a:solidFill>
                <a:latin typeface="Calibri"/>
                <a:ea typeface="B Nazanin"/>
                <a:cs typeface="B Nazanin"/>
              </a:rPr>
              <a:t>خوشه‌بندی گرافی با لم نظم زمردی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774375" y="6473952"/>
            <a:ext cx="868680" cy="256032"/>
          </a:xfrm>
          <a:prstGeom prst="roundRect">
            <a:avLst>
              <a:gd name="adj" fmla="val 10000"/>
            </a:avLst>
          </a:prstGeom>
          <a:solidFill>
            <a:srgbClr val="1A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774375" y="645566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>
              <a:spcAft>
                <a:spcPts val="0"/>
              </a:spcAft>
            </a:pPr>
            <a:r>
              <a:rPr sz="1100" b="0" rtl="1" lang="fa-IR">
                <a:solidFill>
                  <a:srgbClr val="FFFFFF"/>
                </a:solidFill>
                <a:latin typeface="Calibri"/>
                <a:ea typeface="B Nazanin"/>
                <a:cs typeface="B Nazanin"/>
              </a:rPr>
              <a:t>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9184" y="1170432"/>
            <a:ext cx="7360920" cy="5212080"/>
          </a:xfrm>
          <a:prstGeom prst="roundRect">
            <a:avLst>
              <a:gd name="adj" fmla="val 10000"/>
            </a:avLst>
          </a:prstGeom>
          <a:solidFill>
            <a:srgbClr val="DED5C4"/>
          </a:solidFill>
          <a:ln>
            <a:noFill/>
          </a:ln>
          <a:effectLst>
            <a:outerShdw blurRad="201168" dist="54864" dir="7200000" algn="ctr" rotWithShape="0">
              <a:srgbClr val="1A334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20624" y="1261872"/>
            <a:ext cx="7178040" cy="5029200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concept_regul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" y="1878676"/>
            <a:ext cx="6958584" cy="3795591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7836408" y="1170432"/>
            <a:ext cx="4050791" cy="5212080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201168" dist="54864" dir="7200000" algn="ctr" rotWithShape="0">
              <a:srgbClr val="1A334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649456" y="1170432"/>
            <a:ext cx="91440" cy="5212080"/>
          </a:xfrm>
          <a:prstGeom prst="rect">
            <a:avLst/>
          </a:prstGeom>
          <a:solidFill>
            <a:srgbClr val="A33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01000" y="1353312"/>
            <a:ext cx="3666744" cy="4846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1200"/>
              </a:spcAft>
              <a:buFont typeface="Calibri"/>
              <a:buChar char="•"/>
            </a:pP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منظم بودن درباره یال بین دو گروه است، نه داخل هر گروه.</a:t>
            </a:r>
          </a:p>
          <a:p>
            <a:pPr algn="r" rtl="1">
              <a:spcAft>
                <a:spcPts val="1200"/>
              </a:spcAft>
              <a:buFont typeface="Calibri"/>
              <a:buChar char="•"/>
            </a:pP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باید زیرمجموعه‌های به‌قدر کافی بزرگ را هم چک کرد، نه تکه‌های خیلی کوچک را.</a:t>
            </a:r>
          </a:p>
          <a:p>
            <a:pPr algn="r" rtl="1">
              <a:spcAft>
                <a:spcPts val="1200"/>
              </a:spcAft>
              <a:buFont typeface="Calibri"/>
              <a:buChar char="•"/>
            </a:pP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حد اندازه، کسری از خود گروه است. از آن حد به بعد، چگالی هر دو زیرمجموعه باید نزدیک چگالی کل بماند.</a:t>
            </a:r>
          </a:p>
          <a:p>
            <a:pPr algn="r" rtl="1">
              <a:spcAft>
                <a:spcPts val="1200"/>
              </a:spcAft>
              <a:buFont typeface="Calibri"/>
              <a:buChar char="•"/>
            </a:pP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اگر این طور باشد، یک عدد چگالی کل رابطه را خلاصه می‌کند.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EBE4D6"/>
              </a:gs>
              <a:gs pos="100000">
                <a:srgbClr val="F7F1E6"/>
              </a:gs>
            </a:gsLst>
            <a:lin scaled="0" ang="1512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961120" y="-1280160"/>
            <a:ext cx="4754880" cy="4754880"/>
          </a:xfrm>
          <a:prstGeom prst="ellipse">
            <a:avLst/>
          </a:prstGeom>
          <a:solidFill>
            <a:srgbClr val="A33B24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63040" y="4206240"/>
            <a:ext cx="4023360" cy="4023360"/>
          </a:xfrm>
          <a:prstGeom prst="ellipse">
            <a:avLst/>
          </a:prstGeom>
          <a:solidFill>
            <a:srgbClr val="1A334A">
              <a:alpha val="9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A33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11480" y="256032"/>
            <a:ext cx="11384280" cy="841248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201168" dist="45720" dir="7200000" algn="ctr" rotWithShape="0">
              <a:srgbClr val="1A334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384048"/>
            <a:ext cx="1072865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2600" b="1" rtl="1" lang="fa-IR">
                <a:solidFill>
                  <a:srgbClr val="1A334A"/>
                </a:solidFill>
                <a:latin typeface="Calibri"/>
                <a:ea typeface="B Nazanin"/>
                <a:cs typeface="B Nazanin"/>
              </a:rPr>
              <a:t>جفت نامنظم: یک عدد کافی نیست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510528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100" b="0" rtl="1" lang="fa-IR">
                <a:solidFill>
                  <a:srgbClr val="6B645C"/>
                </a:solidFill>
                <a:latin typeface="Calibri"/>
                <a:ea typeface="B Nazanin"/>
                <a:cs typeface="B Nazanin"/>
              </a:rPr>
              <a:t>خوشه‌بندی گرافی با لم نظم زمردی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774375" y="6473952"/>
            <a:ext cx="868680" cy="256032"/>
          </a:xfrm>
          <a:prstGeom prst="roundRect">
            <a:avLst>
              <a:gd name="adj" fmla="val 10000"/>
            </a:avLst>
          </a:prstGeom>
          <a:solidFill>
            <a:srgbClr val="1A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774375" y="645566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>
              <a:spcAft>
                <a:spcPts val="0"/>
              </a:spcAft>
            </a:pPr>
            <a:r>
              <a:rPr sz="1100" b="0" rtl="1" lang="fa-IR">
                <a:solidFill>
                  <a:srgbClr val="FFFFFF"/>
                </a:solidFill>
                <a:latin typeface="Calibri"/>
                <a:ea typeface="B Nazanin"/>
                <a:cs typeface="B Nazanin"/>
              </a:rPr>
              <a:t>۷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9184" y="1170432"/>
            <a:ext cx="7360920" cy="5212080"/>
          </a:xfrm>
          <a:prstGeom prst="roundRect">
            <a:avLst>
              <a:gd name="adj" fmla="val 10000"/>
            </a:avLst>
          </a:prstGeom>
          <a:solidFill>
            <a:srgbClr val="DED5C4"/>
          </a:solidFill>
          <a:ln>
            <a:noFill/>
          </a:ln>
          <a:effectLst>
            <a:outerShdw blurRad="201168" dist="54864" dir="7200000" algn="ctr" rotWithShape="0">
              <a:srgbClr val="1A334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20624" y="1261872"/>
            <a:ext cx="7178040" cy="5029200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concept_irregul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" y="1878676"/>
            <a:ext cx="6958584" cy="3795591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7836408" y="1170432"/>
            <a:ext cx="4050791" cy="5212080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201168" dist="54864" dir="7200000" algn="ctr" rotWithShape="0">
              <a:srgbClr val="1A334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649456" y="1170432"/>
            <a:ext cx="91440" cy="5212080"/>
          </a:xfrm>
          <a:prstGeom prst="rect">
            <a:avLst/>
          </a:prstGeom>
          <a:solidFill>
            <a:srgbClr val="A33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01000" y="1353312"/>
            <a:ext cx="3666744" cy="4846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1200"/>
              </a:spcAft>
              <a:buFont typeface="Calibri"/>
              <a:buChar char="•"/>
            </a:pP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اینجا بالای تصویر پر از یال است و پایین تقریباً خالی.</a:t>
            </a:r>
          </a:p>
          <a:p>
            <a:pPr algn="r" rtl="1">
              <a:spcAft>
                <a:spcPts val="1200"/>
              </a:spcAft>
              <a:buFont typeface="Calibri"/>
              <a:buChar char="•"/>
            </a:pP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میانگین، این تفاوت را پنهان می‌کند.</a:t>
            </a:r>
          </a:p>
          <a:p>
            <a:pPr algn="r" rtl="1">
              <a:spcAft>
                <a:spcPts val="1200"/>
              </a:spcAft>
              <a:buFont typeface="Calibri"/>
              <a:buChar char="•"/>
            </a:pP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لم چنین جفتی را نامنظم می‌گیرد و باید بعداً بریده شود.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EBE4D6"/>
              </a:gs>
              <a:gs pos="100000">
                <a:srgbClr val="F7F1E6"/>
              </a:gs>
            </a:gsLst>
            <a:lin scaled="0" ang="1512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961120" y="-1280160"/>
            <a:ext cx="4754880" cy="4754880"/>
          </a:xfrm>
          <a:prstGeom prst="ellipse">
            <a:avLst/>
          </a:prstGeom>
          <a:solidFill>
            <a:srgbClr val="A33B24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63040" y="4206240"/>
            <a:ext cx="4023360" cy="4023360"/>
          </a:xfrm>
          <a:prstGeom prst="ellipse">
            <a:avLst/>
          </a:prstGeom>
          <a:solidFill>
            <a:srgbClr val="1A334A">
              <a:alpha val="9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A33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11480" y="256032"/>
            <a:ext cx="11384280" cy="841248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201168" dist="45720" dir="7200000" algn="ctr" rotWithShape="0">
              <a:srgbClr val="1A334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384048"/>
            <a:ext cx="1072865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2600" b="1" rtl="1" lang="fa-IR">
                <a:solidFill>
                  <a:srgbClr val="1A334A"/>
                </a:solidFill>
                <a:latin typeface="Calibri"/>
                <a:ea typeface="B Nazanin"/>
                <a:cs typeface="B Nazanin"/>
              </a:rPr>
              <a:t>اپسیلون، مرز منظم و نامنظم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510528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100" b="0" rtl="1" lang="fa-IR">
                <a:solidFill>
                  <a:srgbClr val="6B645C"/>
                </a:solidFill>
                <a:latin typeface="Calibri"/>
                <a:ea typeface="B Nazanin"/>
                <a:cs typeface="B Nazanin"/>
              </a:rPr>
              <a:t>خوشه‌بندی گرافی با لم نظم زمردی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774375" y="6473952"/>
            <a:ext cx="868680" cy="256032"/>
          </a:xfrm>
          <a:prstGeom prst="roundRect">
            <a:avLst>
              <a:gd name="adj" fmla="val 10000"/>
            </a:avLst>
          </a:prstGeom>
          <a:solidFill>
            <a:srgbClr val="1A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774375" y="645566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>
              <a:spcAft>
                <a:spcPts val="0"/>
              </a:spcAft>
            </a:pPr>
            <a:r>
              <a:rPr sz="1100" b="0" rtl="1" lang="fa-IR">
                <a:solidFill>
                  <a:srgbClr val="FFFFFF"/>
                </a:solidFill>
                <a:latin typeface="Calibri"/>
                <a:ea typeface="B Nazanin"/>
                <a:cs typeface="B Nazanin"/>
              </a:rPr>
              <a:t>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9184" y="1170432"/>
            <a:ext cx="8366760" cy="5212080"/>
          </a:xfrm>
          <a:prstGeom prst="roundRect">
            <a:avLst>
              <a:gd name="adj" fmla="val 10000"/>
            </a:avLst>
          </a:prstGeom>
          <a:solidFill>
            <a:srgbClr val="DED5C4"/>
          </a:solidFill>
          <a:ln>
            <a:noFill/>
          </a:ln>
          <a:effectLst>
            <a:outerShdw blurRad="201168" dist="54864" dir="7200000" algn="ctr" rotWithShape="0">
              <a:srgbClr val="1A334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20624" y="1261872"/>
            <a:ext cx="8183880" cy="5029200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fig_eps_regular_pai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" y="1536478"/>
            <a:ext cx="7964424" cy="4479988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8842248" y="1170432"/>
            <a:ext cx="3044952" cy="5212080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201168" dist="54864" dir="7200000" algn="ctr" rotWithShape="0">
              <a:srgbClr val="1A334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649456" y="1170432"/>
            <a:ext cx="91440" cy="5212080"/>
          </a:xfrm>
          <a:prstGeom prst="rect">
            <a:avLst/>
          </a:prstGeom>
          <a:solidFill>
            <a:srgbClr val="A33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06840" y="1353312"/>
            <a:ext cx="2660904" cy="4846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1200"/>
              </a:spcAft>
              <a:buFont typeface="Calibri"/>
              <a:buChar char="•"/>
            </a:pP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چپ جفت منظم است: چگالی تقریباً ثابت و نزدیک </a:t>
            </a:r>
            <a:r>
              <a:rPr sz="1800" b="0" rtl="0" lang="en-US">
                <a:solidFill>
                  <a:srgbClr val="1B1816"/>
                </a:solidFill>
                <a:latin typeface="Calibri"/>
                <a:ea typeface="Calibri"/>
                <a:cs typeface="Calibri"/>
              </a:rPr>
              <a:t>d.</a:t>
            </a:r>
          </a:p>
          <a:p>
            <a:pPr algn="r" rtl="1">
              <a:spcAft>
                <a:spcPts val="1200"/>
              </a:spcAft>
              <a:buFont typeface="Calibri"/>
              <a:buChar char="•"/>
            </a:pP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راست جفت نامنظم است: یک تکه شلوغ و بقیه خلوت.</a:t>
            </a:r>
          </a:p>
          <a:p>
            <a:pPr algn="r" rtl="1">
              <a:spcAft>
                <a:spcPts val="1200"/>
              </a:spcAft>
              <a:buFont typeface="Calibri"/>
              <a:buChar char="•"/>
            </a:pP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اپسیلون هم حد اختلاف چگالی است و هم کف اندازه زیرمجموعه.</a:t>
            </a:r>
          </a:p>
          <a:p>
            <a:pPr algn="r" rtl="1">
              <a:spcAft>
                <a:spcPts val="1200"/>
              </a:spcAft>
              <a:buFont typeface="Calibri"/>
              <a:buChar char="•"/>
            </a:pP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زیرمجموعه کوچک‌تر از این کف کنار گذاشته می‌شود. بزرگ‌تر از آن، باید چگالی‌اش نزدیک چگالی کل بماند.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EBE4D6"/>
              </a:gs>
              <a:gs pos="100000">
                <a:srgbClr val="F7F1E6"/>
              </a:gs>
            </a:gsLst>
            <a:lin scaled="0" ang="1512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961120" y="-1280160"/>
            <a:ext cx="4754880" cy="4754880"/>
          </a:xfrm>
          <a:prstGeom prst="ellipse">
            <a:avLst/>
          </a:prstGeom>
          <a:solidFill>
            <a:srgbClr val="A33B24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63040" y="4206240"/>
            <a:ext cx="4023360" cy="4023360"/>
          </a:xfrm>
          <a:prstGeom prst="ellipse">
            <a:avLst/>
          </a:prstGeom>
          <a:solidFill>
            <a:srgbClr val="1A334A">
              <a:alpha val="9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A33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11480" y="256032"/>
            <a:ext cx="11384280" cy="841248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201168" dist="45720" dir="7200000" algn="ctr" rotWithShape="0">
              <a:srgbClr val="1A334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384048"/>
            <a:ext cx="1072865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2600" b="1" rtl="1" lang="fa-IR">
                <a:solidFill>
                  <a:srgbClr val="1A334A"/>
                </a:solidFill>
                <a:latin typeface="Calibri"/>
                <a:ea typeface="B Nazanin"/>
                <a:cs typeface="B Nazanin"/>
              </a:rPr>
              <a:t>چطور جفت نامنظم را پیدا می‌کنیم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510528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100" b="0" rtl="1" lang="fa-IR">
                <a:solidFill>
                  <a:srgbClr val="6B645C"/>
                </a:solidFill>
                <a:latin typeface="Calibri"/>
                <a:ea typeface="B Nazanin"/>
                <a:cs typeface="B Nazanin"/>
              </a:rPr>
              <a:t>خوشه‌بندی گرافی با لم نظم زمردی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774375" y="6473952"/>
            <a:ext cx="868680" cy="256032"/>
          </a:xfrm>
          <a:prstGeom prst="roundRect">
            <a:avLst>
              <a:gd name="adj" fmla="val 10000"/>
            </a:avLst>
          </a:prstGeom>
          <a:solidFill>
            <a:srgbClr val="1A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774375" y="645566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>
              <a:spcAft>
                <a:spcPts val="0"/>
              </a:spcAft>
            </a:pPr>
            <a:r>
              <a:rPr sz="1100" b="0" rtl="1" lang="fa-IR">
                <a:solidFill>
                  <a:srgbClr val="FFFFFF"/>
                </a:solidFill>
                <a:latin typeface="Calibri"/>
                <a:ea typeface="B Nazanin"/>
                <a:cs typeface="B Nazanin"/>
              </a:rPr>
              <a:t>۹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89392" y="1371600"/>
            <a:ext cx="3614928" cy="4709160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256032" dist="73152" dir="7200000" algn="ctr" rotWithShape="0">
              <a:srgbClr val="1A334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89392" y="1371600"/>
            <a:ext cx="3614928" cy="91440"/>
          </a:xfrm>
          <a:prstGeom prst="rect">
            <a:avLst/>
          </a:prstGeom>
          <a:solidFill>
            <a:srgbClr val="A33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53984" y="1554480"/>
            <a:ext cx="328574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400" b="0" rtl="1" lang="fa-IR">
                <a:solidFill>
                  <a:srgbClr val="A33B24"/>
                </a:solidFill>
                <a:latin typeface="Calibri"/>
                <a:ea typeface="B Nazanin"/>
                <a:cs typeface="B Nazanin"/>
              </a:rPr>
              <a:t>آزمون 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53984" y="1847088"/>
            <a:ext cx="3285744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800" b="1" rtl="1" lang="fa-IR">
                <a:solidFill>
                  <a:srgbClr val="1A334A"/>
                </a:solidFill>
                <a:latin typeface="Calibri"/>
                <a:ea typeface="B Nazanin"/>
                <a:cs typeface="B Nazanin"/>
              </a:rPr>
              <a:t>یال خیلی کم، جفت منظم است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53984" y="2468880"/>
            <a:ext cx="3285744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4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اگر میانگین یال بین دو گروه از حدی کمتر باشد، جفت را منظم می‌گیریم. گراف خالی هم منظم است.</a:t>
            </a:r>
          </a:p>
        </p:txBody>
      </p:sp>
      <p:pic>
        <p:nvPicPr>
          <p:cNvPr id="16" name="Picture 15" descr="concept_alon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0" y="3823106"/>
            <a:ext cx="3029712" cy="1817827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4273296" y="1371600"/>
            <a:ext cx="3614928" cy="4709160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256032" dist="73152" dir="7200000" algn="ctr" rotWithShape="0">
              <a:srgbClr val="1A334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73296" y="1371600"/>
            <a:ext cx="3614928" cy="91440"/>
          </a:xfrm>
          <a:prstGeom prst="rect">
            <a:avLst/>
          </a:prstGeom>
          <a:solidFill>
            <a:srgbClr val="1A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37888" y="1554480"/>
            <a:ext cx="328574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400" b="0" rtl="1" lang="fa-IR">
                <a:solidFill>
                  <a:srgbClr val="A33B24"/>
                </a:solidFill>
                <a:latin typeface="Calibri"/>
                <a:ea typeface="B Nazanin"/>
                <a:cs typeface="B Nazanin"/>
              </a:rPr>
              <a:t>آزمون ۳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37888" y="1847088"/>
            <a:ext cx="3285744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800" b="1" rtl="1" lang="fa-IR">
                <a:solidFill>
                  <a:srgbClr val="1A334A"/>
                </a:solidFill>
                <a:latin typeface="Calibri"/>
                <a:ea typeface="B Nazanin"/>
                <a:cs typeface="B Nazanin"/>
              </a:rPr>
              <a:t>همسایه مشترکِ زیاد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37888" y="2468880"/>
            <a:ext cx="3285744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4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اگر دسته‌ای از رأس‌ها همسایه‌های خیلی شبیه داشته باشند، همان دسته شاهد نامنظمی است.</a:t>
            </a:r>
          </a:p>
        </p:txBody>
      </p:sp>
      <p:pic>
        <p:nvPicPr>
          <p:cNvPr id="22" name="Picture 21" descr="concept_alon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65904" y="3823106"/>
            <a:ext cx="3029712" cy="1817827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457200" y="1371600"/>
            <a:ext cx="3614928" cy="4709160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256032" dist="73152" dir="7200000" algn="ctr" rotWithShape="0">
              <a:srgbClr val="1A334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1371600"/>
            <a:ext cx="3614928" cy="91440"/>
          </a:xfrm>
          <a:prstGeom prst="rect">
            <a:avLst/>
          </a:prstGeom>
          <a:solidFill>
            <a:srgbClr val="1A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1792" y="1554480"/>
            <a:ext cx="328574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400" b="0" rtl="1" lang="fa-IR">
                <a:solidFill>
                  <a:srgbClr val="A33B24"/>
                </a:solidFill>
                <a:latin typeface="Calibri"/>
                <a:ea typeface="B Nazanin"/>
                <a:cs typeface="B Nazanin"/>
              </a:rPr>
              <a:t>آزمون ۲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1792" y="1847088"/>
            <a:ext cx="3285744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800" b="1" rtl="1" lang="fa-IR">
                <a:solidFill>
                  <a:srgbClr val="1A334A"/>
                </a:solidFill>
                <a:latin typeface="Calibri"/>
                <a:ea typeface="B Nazanin"/>
                <a:cs typeface="B Nazanin"/>
              </a:rPr>
              <a:t>درجه خیلی دور از میانگین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1792" y="2468880"/>
            <a:ext cx="3285744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4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رأس‌هایی که درجه‌شان از میانگین خیلی پرت است جمع می‌شوند. اگر تعدادشان زیاد باشد، </a:t>
            </a:r>
            <a:r>
              <a:rPr sz="1400" b="0" rtl="0" lang="en-US">
                <a:solidFill>
                  <a:srgbClr val="1B1816"/>
                </a:solidFill>
                <a:latin typeface="Calibri"/>
                <a:ea typeface="Calibri"/>
                <a:cs typeface="Calibri"/>
              </a:rPr>
              <a:t>certificate</a:t>
            </a:r>
            <a:r>
              <a:rPr sz="14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 همان‌هاست.</a:t>
            </a:r>
          </a:p>
        </p:txBody>
      </p:sp>
      <p:pic>
        <p:nvPicPr>
          <p:cNvPr id="28" name="Picture 27" descr="concept_alon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808" y="3823106"/>
            <a:ext cx="3029712" cy="1817827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EBE4D6"/>
              </a:gs>
              <a:gs pos="100000">
                <a:srgbClr val="F7F1E6"/>
              </a:gs>
            </a:gsLst>
            <a:lin scaled="0" ang="1512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961120" y="-1280160"/>
            <a:ext cx="4754880" cy="4754880"/>
          </a:xfrm>
          <a:prstGeom prst="ellipse">
            <a:avLst/>
          </a:prstGeom>
          <a:solidFill>
            <a:srgbClr val="A33B24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63040" y="4206240"/>
            <a:ext cx="4023360" cy="4023360"/>
          </a:xfrm>
          <a:prstGeom prst="ellipse">
            <a:avLst/>
          </a:prstGeom>
          <a:solidFill>
            <a:srgbClr val="1A334A">
              <a:alpha val="9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A33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11480" y="256032"/>
            <a:ext cx="11384280" cy="841248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201168" dist="45720" dir="7200000" algn="ctr" rotWithShape="0">
              <a:srgbClr val="1A334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384048"/>
            <a:ext cx="1072865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2600" b="1" rtl="1" lang="fa-IR">
                <a:solidFill>
                  <a:srgbClr val="1A334A"/>
                </a:solidFill>
                <a:latin typeface="Calibri"/>
                <a:ea typeface="B Nazanin"/>
                <a:cs typeface="B Nazanin"/>
              </a:rPr>
              <a:t>برش گروه، داخل ساخت افراز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510528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100" b="0" rtl="1" lang="fa-IR">
                <a:solidFill>
                  <a:srgbClr val="6B645C"/>
                </a:solidFill>
                <a:latin typeface="Calibri"/>
                <a:ea typeface="B Nazanin"/>
                <a:cs typeface="B Nazanin"/>
              </a:rPr>
              <a:t>خوشه‌بندی گرافی با لم نظم زمردی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774375" y="6473952"/>
            <a:ext cx="868680" cy="256032"/>
          </a:xfrm>
          <a:prstGeom prst="roundRect">
            <a:avLst>
              <a:gd name="adj" fmla="val 10000"/>
            </a:avLst>
          </a:prstGeom>
          <a:solidFill>
            <a:srgbClr val="1A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774375" y="645566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>
              <a:spcAft>
                <a:spcPts val="0"/>
              </a:spcAft>
            </a:pPr>
            <a:r>
              <a:rPr sz="1100" b="0" rtl="1" lang="fa-IR">
                <a:solidFill>
                  <a:srgbClr val="FFFFFF"/>
                </a:solidFill>
                <a:latin typeface="Calibri"/>
                <a:ea typeface="B Nazanin"/>
                <a:cs typeface="B Nazanin"/>
              </a:rPr>
              <a:t>۱۰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9184" y="1170432"/>
            <a:ext cx="7360920" cy="5212080"/>
          </a:xfrm>
          <a:prstGeom prst="roundRect">
            <a:avLst>
              <a:gd name="adj" fmla="val 10000"/>
            </a:avLst>
          </a:prstGeom>
          <a:solidFill>
            <a:srgbClr val="DED5C4"/>
          </a:solidFill>
          <a:ln>
            <a:noFill/>
          </a:ln>
          <a:effectLst>
            <a:outerShdw blurRad="201168" dist="54864" dir="7200000" algn="ctr" rotWithShape="0">
              <a:srgbClr val="1A334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20624" y="1261872"/>
            <a:ext cx="7178040" cy="5029200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concept_ref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" y="2067346"/>
            <a:ext cx="6958584" cy="3418251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7836408" y="1170432"/>
            <a:ext cx="4050791" cy="5212080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201168" dist="54864" dir="7200000" algn="ctr" rotWithShape="0">
              <a:srgbClr val="1A334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649456" y="1170432"/>
            <a:ext cx="91440" cy="5212080"/>
          </a:xfrm>
          <a:prstGeom prst="rect">
            <a:avLst/>
          </a:prstGeom>
          <a:solidFill>
            <a:srgbClr val="A33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01000" y="1353312"/>
            <a:ext cx="3666744" cy="4846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1200"/>
              </a:spcAft>
              <a:buFont typeface="Calibri"/>
              <a:buChar char="•"/>
            </a:pP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جای این کار در راه لم، بعد از آزمون جفت‌ها و قبل از ساخت گراف کوچک است.</a:t>
            </a:r>
          </a:p>
          <a:p>
            <a:pPr algn="r" rtl="1">
              <a:spcAft>
                <a:spcPts val="1200"/>
              </a:spcAft>
              <a:buFont typeface="Calibri"/>
              <a:buChar char="•"/>
            </a:pP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هنوز خوشه‌بندی نیست. گروه نامنظم دو تکه می‌شود تا بشود یال‌ها را با یک چگالی عوض کرد.</a:t>
            </a:r>
          </a:p>
          <a:p>
            <a:pPr algn="r" rtl="1">
              <a:spcAft>
                <a:spcPts val="1200"/>
              </a:spcAft>
              <a:buFont typeface="Calibri"/>
              <a:buChar char="•"/>
            </a:pP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تکه قرمز همان </a:t>
            </a:r>
            <a:r>
              <a:rPr sz="1800" b="0" rtl="0" lang="en-US">
                <a:solidFill>
                  <a:srgbClr val="1B1816"/>
                </a:solidFill>
                <a:latin typeface="Calibri"/>
                <a:ea typeface="Calibri"/>
                <a:cs typeface="Calibri"/>
              </a:rPr>
              <a:t>certificate</a:t>
            </a: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 است و از گروه جدا می‌شود. بقیه گروه سر جایش می‌ماند.</a:t>
            </a:r>
          </a:p>
          <a:p>
            <a:pPr algn="r" rtl="1">
              <a:spcAft>
                <a:spcPts val="1200"/>
              </a:spcAft>
              <a:buFont typeface="Calibri"/>
              <a:buChar char="•"/>
            </a:pP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خرده‌هایی که به هیچ تکه‌ای نمی‌خورند به مجموعه استثنایی می‌روند.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EBE4D6"/>
              </a:gs>
              <a:gs pos="100000">
                <a:srgbClr val="F7F1E6"/>
              </a:gs>
            </a:gsLst>
            <a:lin scaled="0" ang="1512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961120" y="-1280160"/>
            <a:ext cx="4754880" cy="4754880"/>
          </a:xfrm>
          <a:prstGeom prst="ellipse">
            <a:avLst/>
          </a:prstGeom>
          <a:solidFill>
            <a:srgbClr val="A33B24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63040" y="4206240"/>
            <a:ext cx="4023360" cy="4023360"/>
          </a:xfrm>
          <a:prstGeom prst="ellipse">
            <a:avLst/>
          </a:prstGeom>
          <a:solidFill>
            <a:srgbClr val="1A334A">
              <a:alpha val="9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A33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11480" y="256032"/>
            <a:ext cx="11384280" cy="841248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201168" dist="45720" dir="7200000" algn="ctr" rotWithShape="0">
              <a:srgbClr val="1A334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384048"/>
            <a:ext cx="1072865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2600" b="1" rtl="1" lang="fa-IR">
                <a:solidFill>
                  <a:srgbClr val="1A334A"/>
                </a:solidFill>
                <a:latin typeface="Calibri"/>
                <a:ea typeface="B Nazanin"/>
                <a:cs typeface="B Nazanin"/>
              </a:rPr>
              <a:t>سه اصلاح مقاله روی همین افراز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510528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100" b="0" rtl="1" lang="fa-IR">
                <a:solidFill>
                  <a:srgbClr val="6B645C"/>
                </a:solidFill>
                <a:latin typeface="Calibri"/>
                <a:ea typeface="B Nazanin"/>
                <a:cs typeface="B Nazanin"/>
              </a:rPr>
              <a:t>خوشه‌بندی گرافی با لم نظم زمردی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774375" y="6473952"/>
            <a:ext cx="868680" cy="256032"/>
          </a:xfrm>
          <a:prstGeom prst="roundRect">
            <a:avLst>
              <a:gd name="adj" fmla="val 10000"/>
            </a:avLst>
          </a:prstGeom>
          <a:solidFill>
            <a:srgbClr val="1A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774375" y="645566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>
              <a:spcAft>
                <a:spcPts val="0"/>
              </a:spcAft>
            </a:pPr>
            <a:r>
              <a:rPr sz="1100" b="0" rtl="1" lang="fa-IR">
                <a:solidFill>
                  <a:srgbClr val="FFFFFF"/>
                </a:solidFill>
                <a:latin typeface="Calibri"/>
                <a:ea typeface="B Nazanin"/>
                <a:cs typeface="B Nazanin"/>
              </a:rPr>
              <a:t>۱۱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1261872"/>
            <a:ext cx="11292840" cy="841248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182880" dist="45720" dir="7200000" algn="ctr" rotWithShape="0">
              <a:srgbClr val="1A334A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1594592" y="1371600"/>
            <a:ext cx="91440" cy="621792"/>
          </a:xfrm>
          <a:prstGeom prst="rect">
            <a:avLst/>
          </a:prstGeom>
          <a:solidFill>
            <a:srgbClr val="A33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61320" y="1389888"/>
            <a:ext cx="914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600" b="1" rtl="1" lang="fa-IR">
                <a:solidFill>
                  <a:srgbClr val="A33B24"/>
                </a:solidFill>
                <a:latin typeface="Calibri"/>
                <a:ea typeface="B Nazanin"/>
                <a:cs typeface="B Nazanin"/>
              </a:rPr>
              <a:t>۰۱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1389888"/>
            <a:ext cx="9738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هر گروه حداکثر با یک گروه دیگر نامنظم حساب می‌شود. بدون این قید، تعداد گروه‌ها در هر دور چند برابر می‌شود.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2194560"/>
            <a:ext cx="11292840" cy="841248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182880" dist="45720" dir="7200000" algn="ctr" rotWithShape="0">
              <a:srgbClr val="1A334A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1594592" y="2304288"/>
            <a:ext cx="91440" cy="621792"/>
          </a:xfrm>
          <a:prstGeom prst="rect">
            <a:avLst/>
          </a:prstGeom>
          <a:solidFill>
            <a:srgbClr val="1A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61320" y="2322576"/>
            <a:ext cx="914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600" b="1" rtl="1" lang="fa-IR">
                <a:solidFill>
                  <a:srgbClr val="A33B24"/>
                </a:solidFill>
                <a:latin typeface="Calibri"/>
                <a:ea typeface="B Nazanin"/>
                <a:cs typeface="B Nazanin"/>
              </a:rPr>
              <a:t>۰۲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2322576"/>
            <a:ext cx="9738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تکه نامنظم با روش درجه </a:t>
            </a:r>
            <a:r>
              <a:rPr sz="1800" b="0" rtl="0" lang="en-US">
                <a:solidFill>
                  <a:srgbClr val="1B1816"/>
                </a:solidFill>
                <a:latin typeface="Calibri"/>
                <a:ea typeface="Calibri"/>
                <a:cs typeface="Calibri"/>
              </a:rPr>
              <a:t>Fiorucci</a:t>
            </a: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 پیدا می‌شود، نه با جست‌وجوی کامل نسخه اصلی </a:t>
            </a:r>
            <a:r>
              <a:rPr sz="1800" b="0" rtl="0" lang="en-US">
                <a:solidFill>
                  <a:srgbClr val="1B1816"/>
                </a:solidFill>
                <a:latin typeface="Calibri"/>
                <a:ea typeface="Calibri"/>
                <a:cs typeface="Calibri"/>
              </a:rPr>
              <a:t>Alon.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3127248"/>
            <a:ext cx="11292840" cy="841248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182880" dist="45720" dir="7200000" algn="ctr" rotWithShape="0">
              <a:srgbClr val="1A334A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1594592" y="3236976"/>
            <a:ext cx="91440" cy="621792"/>
          </a:xfrm>
          <a:prstGeom prst="rect">
            <a:avLst/>
          </a:prstGeom>
          <a:solidFill>
            <a:srgbClr val="1A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61320" y="3255264"/>
            <a:ext cx="914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600" b="1" rtl="1" lang="fa-IR">
                <a:solidFill>
                  <a:srgbClr val="A33B24"/>
                </a:solidFill>
                <a:latin typeface="Calibri"/>
                <a:ea typeface="B Nazanin"/>
                <a:cs typeface="B Nazanin"/>
              </a:rPr>
              <a:t>۰۳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3255264"/>
            <a:ext cx="9738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وقتی گروه‌ها به‌قدر کافی کوچک شدند، حلقه می‌ایستد. نتیجه تقریباً منظم است، نه یک افراز اثبات‌شده.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EBE4D6"/>
              </a:gs>
              <a:gs pos="100000">
                <a:srgbClr val="F7F1E6"/>
              </a:gs>
            </a:gsLst>
            <a:lin scaled="0" ang="1512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961120" y="-1280160"/>
            <a:ext cx="4754880" cy="4754880"/>
          </a:xfrm>
          <a:prstGeom prst="ellipse">
            <a:avLst/>
          </a:prstGeom>
          <a:solidFill>
            <a:srgbClr val="A33B24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63040" y="4206240"/>
            <a:ext cx="4023360" cy="4023360"/>
          </a:xfrm>
          <a:prstGeom prst="ellipse">
            <a:avLst/>
          </a:prstGeom>
          <a:solidFill>
            <a:srgbClr val="1A334A">
              <a:alpha val="9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A33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11480" y="256032"/>
            <a:ext cx="11384280" cy="841248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201168" dist="45720" dir="7200000" algn="ctr" rotWithShape="0">
              <a:srgbClr val="1A334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384048"/>
            <a:ext cx="1072865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2600" b="1" rtl="1" lang="fa-IR">
                <a:solidFill>
                  <a:srgbClr val="1A334A"/>
                </a:solidFill>
                <a:latin typeface="Calibri"/>
                <a:ea typeface="B Nazanin"/>
                <a:cs typeface="B Nazanin"/>
              </a:rPr>
              <a:t>از یال‌های بین دو گروه تا یک چگالی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510528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100" b="0" rtl="1" lang="fa-IR">
                <a:solidFill>
                  <a:srgbClr val="6B645C"/>
                </a:solidFill>
                <a:latin typeface="Calibri"/>
                <a:ea typeface="B Nazanin"/>
                <a:cs typeface="B Nazanin"/>
              </a:rPr>
              <a:t>خوشه‌بندی گرافی با لم نظم زمردی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774375" y="6473952"/>
            <a:ext cx="868680" cy="256032"/>
          </a:xfrm>
          <a:prstGeom prst="roundRect">
            <a:avLst>
              <a:gd name="adj" fmla="val 10000"/>
            </a:avLst>
          </a:prstGeom>
          <a:solidFill>
            <a:srgbClr val="1A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774375" y="645566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>
              <a:spcAft>
                <a:spcPts val="0"/>
              </a:spcAft>
            </a:pPr>
            <a:r>
              <a:rPr sz="1100" b="0" rtl="1" lang="fa-IR">
                <a:solidFill>
                  <a:srgbClr val="FFFFFF"/>
                </a:solidFill>
                <a:latin typeface="Calibri"/>
                <a:ea typeface="B Nazanin"/>
                <a:cs typeface="B Nazanin"/>
              </a:rPr>
              <a:t>۱۲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9184" y="1170432"/>
            <a:ext cx="7360920" cy="5212080"/>
          </a:xfrm>
          <a:prstGeom prst="roundRect">
            <a:avLst>
              <a:gd name="adj" fmla="val 10000"/>
            </a:avLst>
          </a:prstGeom>
          <a:solidFill>
            <a:srgbClr val="DED5C4"/>
          </a:solidFill>
          <a:ln>
            <a:noFill/>
          </a:ln>
          <a:effectLst>
            <a:outerShdw blurRad="201168" dist="54864" dir="7200000" algn="ctr" rotWithShape="0">
              <a:srgbClr val="1A334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20624" y="1261872"/>
            <a:ext cx="7178040" cy="5029200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concept_dens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" y="1878676"/>
            <a:ext cx="6958584" cy="3795591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7836408" y="1170432"/>
            <a:ext cx="4050791" cy="5212080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201168" dist="54864" dir="7200000" algn="ctr" rotWithShape="0">
              <a:srgbClr val="1A334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649456" y="1170432"/>
            <a:ext cx="91440" cy="5212080"/>
          </a:xfrm>
          <a:prstGeom prst="rect">
            <a:avLst/>
          </a:prstGeom>
          <a:solidFill>
            <a:srgbClr val="A33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01000" y="1353312"/>
            <a:ext cx="3666744" cy="4846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1200"/>
              </a:spcAft>
              <a:buFont typeface="Calibri"/>
              <a:buChar char="•"/>
            </a:pP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چپ، همه یال‌های بین دو گروه را نشان می‌دهد.</a:t>
            </a:r>
          </a:p>
          <a:p>
            <a:pPr algn="r" rtl="1">
              <a:spcAft>
                <a:spcPts val="1200"/>
              </a:spcAft>
              <a:buFont typeface="Calibri"/>
              <a:buChar char="•"/>
            </a:pP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راست، همان رابطه فقط با یک میله مانده است.</a:t>
            </a:r>
          </a:p>
          <a:p>
            <a:pPr algn="r" rtl="1">
              <a:spcAft>
                <a:spcPts val="1200"/>
              </a:spcAft>
              <a:buFont typeface="Calibri"/>
              <a:buChar char="•"/>
            </a:pP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ضخامت میله یعنی چگالی: سهم یال‌های موجود از همه یال‌های ممکن.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EBE4D6"/>
              </a:gs>
              <a:gs pos="100000">
                <a:srgbClr val="F7F1E6"/>
              </a:gs>
            </a:gsLst>
            <a:lin scaled="0" ang="1512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961120" y="-1280160"/>
            <a:ext cx="4754880" cy="4754880"/>
          </a:xfrm>
          <a:prstGeom prst="ellipse">
            <a:avLst/>
          </a:prstGeom>
          <a:solidFill>
            <a:srgbClr val="A33B24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63040" y="4206240"/>
            <a:ext cx="4023360" cy="4023360"/>
          </a:xfrm>
          <a:prstGeom prst="ellipse">
            <a:avLst/>
          </a:prstGeom>
          <a:solidFill>
            <a:srgbClr val="1A334A">
              <a:alpha val="9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A33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11480" y="256032"/>
            <a:ext cx="11384280" cy="841248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201168" dist="45720" dir="7200000" algn="ctr" rotWithShape="0">
              <a:srgbClr val="1A334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384048"/>
            <a:ext cx="1072865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2600" b="1" rtl="1" lang="fa-IR">
                <a:solidFill>
                  <a:srgbClr val="1A334A"/>
                </a:solidFill>
                <a:latin typeface="Calibri"/>
                <a:ea typeface="B Nazanin"/>
                <a:cs typeface="B Nazanin"/>
              </a:rPr>
              <a:t>گراف کوچک: هر گروه یک رأس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510528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100" b="0" rtl="1" lang="fa-IR">
                <a:solidFill>
                  <a:srgbClr val="6B645C"/>
                </a:solidFill>
                <a:latin typeface="Calibri"/>
                <a:ea typeface="B Nazanin"/>
                <a:cs typeface="B Nazanin"/>
              </a:rPr>
              <a:t>خوشه‌بندی گرافی با لم نظم زمردی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774375" y="6473952"/>
            <a:ext cx="868680" cy="256032"/>
          </a:xfrm>
          <a:prstGeom prst="roundRect">
            <a:avLst>
              <a:gd name="adj" fmla="val 10000"/>
            </a:avLst>
          </a:prstGeom>
          <a:solidFill>
            <a:srgbClr val="1A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774375" y="645566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>
              <a:spcAft>
                <a:spcPts val="0"/>
              </a:spcAft>
            </a:pPr>
            <a:r>
              <a:rPr sz="1100" b="0" rtl="1" lang="fa-IR">
                <a:solidFill>
                  <a:srgbClr val="FFFFFF"/>
                </a:solidFill>
                <a:latin typeface="Calibri"/>
                <a:ea typeface="B Nazanin"/>
                <a:cs typeface="B Nazanin"/>
              </a:rPr>
              <a:t>۱۳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9184" y="1170432"/>
            <a:ext cx="7360920" cy="5212080"/>
          </a:xfrm>
          <a:prstGeom prst="roundRect">
            <a:avLst>
              <a:gd name="adj" fmla="val 10000"/>
            </a:avLst>
          </a:prstGeom>
          <a:solidFill>
            <a:srgbClr val="DED5C4"/>
          </a:solidFill>
          <a:ln>
            <a:noFill/>
          </a:ln>
          <a:effectLst>
            <a:outerShdw blurRad="201168" dist="54864" dir="7200000" algn="ctr" rotWithShape="0">
              <a:srgbClr val="1A334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20624" y="1261872"/>
            <a:ext cx="7178040" cy="5029200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concept_reduc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" y="1878676"/>
            <a:ext cx="6958584" cy="3795591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7836408" y="1170432"/>
            <a:ext cx="4050791" cy="5212080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201168" dist="54864" dir="7200000" algn="ctr" rotWithShape="0">
              <a:srgbClr val="1A334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649456" y="1170432"/>
            <a:ext cx="91440" cy="5212080"/>
          </a:xfrm>
          <a:prstGeom prst="rect">
            <a:avLst/>
          </a:prstGeom>
          <a:solidFill>
            <a:srgbClr val="A33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01000" y="1353312"/>
            <a:ext cx="3666744" cy="4846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1200"/>
              </a:spcAft>
              <a:buFont typeface="Calibri"/>
              <a:buChar char="•"/>
            </a:pP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هر گروه با فلش به یک رأس هم‌رنگ تبدیل می‌شود.</a:t>
            </a:r>
          </a:p>
          <a:p>
            <a:pPr algn="r" rtl="1">
              <a:spcAft>
                <a:spcPts val="1200"/>
              </a:spcAft>
              <a:buFont typeface="Calibri"/>
              <a:buChar char="•"/>
            </a:pP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آن رأس نماینده همه نمونه‌های گروه است.</a:t>
            </a:r>
          </a:p>
          <a:p>
            <a:pPr algn="r" rtl="1">
              <a:spcAft>
                <a:spcPts val="1200"/>
              </a:spcAft>
              <a:buFont typeface="Calibri"/>
              <a:buChar char="•"/>
            </a:pP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ضخامت یال بین دو رأس، همان چگالی دو گروه است.</a:t>
            </a:r>
          </a:p>
          <a:p>
            <a:pPr algn="r" rtl="1">
              <a:spcAft>
                <a:spcPts val="1200"/>
              </a:spcAft>
              <a:buFont typeface="Calibri"/>
              <a:buChar char="•"/>
            </a:pP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خوشه‌بندی از اینجا به بعد روی همین گراف کوچک انجام می‌شود.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EBE4D6"/>
              </a:gs>
              <a:gs pos="100000">
                <a:srgbClr val="F7F1E6"/>
              </a:gs>
            </a:gsLst>
            <a:lin scaled="0" ang="1512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961120" y="-1280160"/>
            <a:ext cx="4754880" cy="4754880"/>
          </a:xfrm>
          <a:prstGeom prst="ellipse">
            <a:avLst/>
          </a:prstGeom>
          <a:solidFill>
            <a:srgbClr val="A33B24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63040" y="4206240"/>
            <a:ext cx="4023360" cy="4023360"/>
          </a:xfrm>
          <a:prstGeom prst="ellipse">
            <a:avLst/>
          </a:prstGeom>
          <a:solidFill>
            <a:srgbClr val="1A334A">
              <a:alpha val="9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A33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11480" y="256032"/>
            <a:ext cx="11384280" cy="841248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201168" dist="45720" dir="7200000" algn="ctr" rotWithShape="0">
              <a:srgbClr val="1A334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384048"/>
            <a:ext cx="1072865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2600" b="1" rtl="1" lang="fa-IR">
                <a:solidFill>
                  <a:srgbClr val="1A334A"/>
                </a:solidFill>
                <a:latin typeface="Calibri"/>
                <a:ea typeface="B Nazanin"/>
                <a:cs typeface="B Nazanin"/>
              </a:rPr>
              <a:t>همان گراف، یک بار مستقیم و یک بار با لم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510528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100" b="0" rtl="1" lang="fa-IR">
                <a:solidFill>
                  <a:srgbClr val="6B645C"/>
                </a:solidFill>
                <a:latin typeface="Calibri"/>
                <a:ea typeface="B Nazanin"/>
                <a:cs typeface="B Nazanin"/>
              </a:rPr>
              <a:t>خوشه‌بندی گرافی با لم نظم زمردی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774375" y="6473952"/>
            <a:ext cx="868680" cy="256032"/>
          </a:xfrm>
          <a:prstGeom prst="roundRect">
            <a:avLst>
              <a:gd name="adj" fmla="val 10000"/>
            </a:avLst>
          </a:prstGeom>
          <a:solidFill>
            <a:srgbClr val="1A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774375" y="645566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>
              <a:spcAft>
                <a:spcPts val="0"/>
              </a:spcAft>
            </a:pPr>
            <a:r>
              <a:rPr sz="1100" b="0" rtl="1" lang="fa-IR">
                <a:solidFill>
                  <a:srgbClr val="FFFFFF"/>
                </a:solidFill>
                <a:latin typeface="Calibri"/>
                <a:ea typeface="B Nazanin"/>
                <a:cs typeface="B Nazanin"/>
              </a:rPr>
              <a:t>۱۴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1353312"/>
            <a:ext cx="5669280" cy="4754880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256032" dist="73152" dir="7200000" algn="ctr" rotWithShape="0">
              <a:srgbClr val="1A334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09360" y="1353312"/>
            <a:ext cx="5669280" cy="91440"/>
          </a:xfrm>
          <a:prstGeom prst="rect">
            <a:avLst/>
          </a:prstGeom>
          <a:solidFill>
            <a:srgbClr val="A33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37960" y="1536192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2200" b="1" rtl="1" lang="fa-IR">
                <a:solidFill>
                  <a:srgbClr val="1A334A"/>
                </a:solidFill>
                <a:latin typeface="Calibri"/>
                <a:ea typeface="B Nazanin"/>
                <a:cs typeface="B Nazanin"/>
              </a:rPr>
              <a:t>راه پایه</a:t>
            </a:r>
          </a:p>
        </p:txBody>
      </p:sp>
      <p:pic>
        <p:nvPicPr>
          <p:cNvPr id="14" name="Picture 13" descr="concept_path_dir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99210" y="1965960"/>
            <a:ext cx="3489579" cy="324612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537960" y="5257800"/>
            <a:ext cx="5212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6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خوشه‌بندی مستقیم روی گراف اصلی. رنگ هر رأس همان خوشه اوست.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1480" y="1353312"/>
            <a:ext cx="5669280" cy="4754880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256032" dist="73152" dir="7200000" algn="ctr" rotWithShape="0">
              <a:srgbClr val="1A334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11480" y="1353312"/>
            <a:ext cx="5669280" cy="91440"/>
          </a:xfrm>
          <a:prstGeom prst="rect">
            <a:avLst/>
          </a:prstGeom>
          <a:solidFill>
            <a:srgbClr val="1A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1536192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2200" b="1" rtl="1" lang="fa-IR">
                <a:solidFill>
                  <a:srgbClr val="1A334A"/>
                </a:solidFill>
                <a:latin typeface="Calibri"/>
                <a:ea typeface="B Nazanin"/>
                <a:cs typeface="B Nazanin"/>
              </a:rPr>
              <a:t>راه لم</a:t>
            </a:r>
          </a:p>
        </p:txBody>
      </p:sp>
      <p:pic>
        <p:nvPicPr>
          <p:cNvPr id="19" name="Picture 18" descr="concept_path_lemm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76810" y="1965960"/>
            <a:ext cx="2138620" cy="32461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40080" y="5257800"/>
            <a:ext cx="5212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6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رأس‌های زیاد به ۴ رأس کوچک می‌شوند. خوشه‌بندی روی همین گراف چهار رأسی انجام می‌شود.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EBE4D6"/>
              </a:gs>
              <a:gs pos="100000">
                <a:srgbClr val="F7F1E6"/>
              </a:gs>
            </a:gsLst>
            <a:lin scaled="0" ang="1512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961120" y="-1280160"/>
            <a:ext cx="4754880" cy="4754880"/>
          </a:xfrm>
          <a:prstGeom prst="ellipse">
            <a:avLst/>
          </a:prstGeom>
          <a:solidFill>
            <a:srgbClr val="A33B24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63040" y="4206240"/>
            <a:ext cx="4023360" cy="4023360"/>
          </a:xfrm>
          <a:prstGeom prst="ellipse">
            <a:avLst/>
          </a:prstGeom>
          <a:solidFill>
            <a:srgbClr val="1A334A">
              <a:alpha val="9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A33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11480" y="256032"/>
            <a:ext cx="11384280" cy="841248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201168" dist="45720" dir="7200000" algn="ctr" rotWithShape="0">
              <a:srgbClr val="1A334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384048"/>
            <a:ext cx="1072865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2600" b="1" rtl="1" lang="fa-IR">
                <a:solidFill>
                  <a:srgbClr val="1A334A"/>
                </a:solidFill>
                <a:latin typeface="Calibri"/>
                <a:ea typeface="B Nazanin"/>
                <a:cs typeface="B Nazanin"/>
              </a:rPr>
              <a:t>برگرداندن خوشه به تک‌تک نمونه‌ها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510528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100" b="0" rtl="1" lang="fa-IR">
                <a:solidFill>
                  <a:srgbClr val="6B645C"/>
                </a:solidFill>
                <a:latin typeface="Calibri"/>
                <a:ea typeface="B Nazanin"/>
                <a:cs typeface="B Nazanin"/>
              </a:rPr>
              <a:t>خوشه‌بندی گرافی با لم نظم زمردی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774375" y="6473952"/>
            <a:ext cx="868680" cy="256032"/>
          </a:xfrm>
          <a:prstGeom prst="roundRect">
            <a:avLst>
              <a:gd name="adj" fmla="val 10000"/>
            </a:avLst>
          </a:prstGeom>
          <a:solidFill>
            <a:srgbClr val="1A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774375" y="645566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>
              <a:spcAft>
                <a:spcPts val="0"/>
              </a:spcAft>
            </a:pPr>
            <a:r>
              <a:rPr sz="1100" b="0" rtl="1" lang="fa-IR">
                <a:solidFill>
                  <a:srgbClr val="FFFFFF"/>
                </a:solidFill>
                <a:latin typeface="Calibri"/>
                <a:ea typeface="B Nazanin"/>
                <a:cs typeface="B Nazanin"/>
              </a:rPr>
              <a:t>۱۵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9184" y="1170432"/>
            <a:ext cx="7360920" cy="5212080"/>
          </a:xfrm>
          <a:prstGeom prst="roundRect">
            <a:avLst>
              <a:gd name="adj" fmla="val 10000"/>
            </a:avLst>
          </a:prstGeom>
          <a:solidFill>
            <a:srgbClr val="DED5C4"/>
          </a:solidFill>
          <a:ln>
            <a:noFill/>
          </a:ln>
          <a:effectLst>
            <a:outerShdw blurRad="201168" dist="54864" dir="7200000" algn="ctr" rotWithShape="0">
              <a:srgbClr val="1A334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20624" y="1261872"/>
            <a:ext cx="7178040" cy="5029200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concept_lif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" y="1878676"/>
            <a:ext cx="6958584" cy="3795591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7836408" y="1170432"/>
            <a:ext cx="4050791" cy="5212080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201168" dist="54864" dir="7200000" algn="ctr" rotWithShape="0">
              <a:srgbClr val="1A334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649456" y="1170432"/>
            <a:ext cx="91440" cy="5212080"/>
          </a:xfrm>
          <a:prstGeom prst="rect">
            <a:avLst/>
          </a:prstGeom>
          <a:solidFill>
            <a:srgbClr val="A33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01000" y="1353312"/>
            <a:ext cx="3666744" cy="4846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1200"/>
              </a:spcAft>
              <a:buFont typeface="Calibri"/>
              <a:buChar char="•"/>
            </a:pP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خوشه‌بندی فقط به رأس‌های گراف کوچک رنگ داده است.</a:t>
            </a:r>
          </a:p>
          <a:p>
            <a:pPr algn="r" rtl="1">
              <a:spcAft>
                <a:spcPts val="1200"/>
              </a:spcAft>
              <a:buFont typeface="Calibri"/>
              <a:buChar char="•"/>
            </a:pP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هر نمونه، رنگ رأس گروهی را می‌گیرد که عضو آن است.</a:t>
            </a:r>
          </a:p>
          <a:p>
            <a:pPr algn="r" rtl="1">
              <a:spcAft>
                <a:spcPts val="1200"/>
              </a:spcAft>
              <a:buFont typeface="Calibri"/>
              <a:buChar char="•"/>
            </a:pP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پس خروجی باز هم یک برچسب برای هر نمونه اصلی است.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EBE4D6"/>
              </a:gs>
              <a:gs pos="100000">
                <a:srgbClr val="F7F1E6"/>
              </a:gs>
            </a:gsLst>
            <a:lin scaled="0" ang="1512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961120" y="-1280160"/>
            <a:ext cx="4754880" cy="4754880"/>
          </a:xfrm>
          <a:prstGeom prst="ellipse">
            <a:avLst/>
          </a:prstGeom>
          <a:solidFill>
            <a:srgbClr val="A33B24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63040" y="4206240"/>
            <a:ext cx="4023360" cy="4023360"/>
          </a:xfrm>
          <a:prstGeom prst="ellipse">
            <a:avLst/>
          </a:prstGeom>
          <a:solidFill>
            <a:srgbClr val="1A334A">
              <a:alpha val="9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A33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11480" y="256032"/>
            <a:ext cx="11384280" cy="841248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201168" dist="45720" dir="7200000" algn="ctr" rotWithShape="0">
              <a:srgbClr val="1A334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384048"/>
            <a:ext cx="1072865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2600" b="1" rtl="1" lang="fa-IR">
                <a:solidFill>
                  <a:srgbClr val="1A334A"/>
                </a:solidFill>
                <a:latin typeface="Calibri"/>
                <a:ea typeface="B Nazanin"/>
                <a:cs typeface="B Nazanin"/>
              </a:rPr>
              <a:t>کل مسیر آزمایش، از داده تا </a:t>
            </a:r>
            <a:r>
              <a:rPr sz="2600" b="1" rtl="0" lang="en-US">
                <a:solidFill>
                  <a:srgbClr val="1A334A"/>
                </a:solidFill>
                <a:latin typeface="Calibri"/>
                <a:ea typeface="Calibri"/>
                <a:cs typeface="Calibri"/>
              </a:rPr>
              <a:t>NMI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510528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100" b="0" rtl="1" lang="fa-IR">
                <a:solidFill>
                  <a:srgbClr val="6B645C"/>
                </a:solidFill>
                <a:latin typeface="Calibri"/>
                <a:ea typeface="B Nazanin"/>
                <a:cs typeface="B Nazanin"/>
              </a:rPr>
              <a:t>خوشه‌بندی گرافی با لم نظم زمردی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774375" y="6473952"/>
            <a:ext cx="868680" cy="256032"/>
          </a:xfrm>
          <a:prstGeom prst="roundRect">
            <a:avLst>
              <a:gd name="adj" fmla="val 10000"/>
            </a:avLst>
          </a:prstGeom>
          <a:solidFill>
            <a:srgbClr val="1A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774375" y="645566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>
              <a:spcAft>
                <a:spcPts val="0"/>
              </a:spcAft>
            </a:pPr>
            <a:r>
              <a:rPr sz="1100" b="0" rtl="1" lang="fa-IR">
                <a:solidFill>
                  <a:srgbClr val="FFFFFF"/>
                </a:solidFill>
                <a:latin typeface="Calibri"/>
                <a:ea typeface="B Nazanin"/>
                <a:cs typeface="B Nazanin"/>
              </a:rPr>
              <a:t>۱۶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9184" y="1170432"/>
            <a:ext cx="7360920" cy="5212080"/>
          </a:xfrm>
          <a:prstGeom prst="roundRect">
            <a:avLst>
              <a:gd name="adj" fmla="val 10000"/>
            </a:avLst>
          </a:prstGeom>
          <a:solidFill>
            <a:srgbClr val="DED5C4"/>
          </a:solidFill>
          <a:ln>
            <a:noFill/>
          </a:ln>
          <a:effectLst>
            <a:outerShdw blurRad="201168" dist="54864" dir="7200000" algn="ctr" rotWithShape="0">
              <a:srgbClr val="1A334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20624" y="1261872"/>
            <a:ext cx="7178040" cy="5029200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fig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" y="2300409"/>
            <a:ext cx="6958584" cy="2952126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7836408" y="1170432"/>
            <a:ext cx="4050791" cy="5212080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201168" dist="54864" dir="7200000" algn="ctr" rotWithShape="0">
              <a:srgbClr val="1A334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649456" y="1170432"/>
            <a:ext cx="91440" cy="5212080"/>
          </a:xfrm>
          <a:prstGeom prst="rect">
            <a:avLst/>
          </a:prstGeom>
          <a:solidFill>
            <a:srgbClr val="A33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01000" y="1353312"/>
            <a:ext cx="3666744" cy="4846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1200"/>
              </a:spcAft>
              <a:buFont typeface="Calibri"/>
              <a:buChar char="•"/>
            </a:pP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داده خوانده می‌شود، در صورت نیاز کوچک می‌شود، و گراف شباهت یک بار ساخته می‌شود.</a:t>
            </a:r>
          </a:p>
          <a:p>
            <a:pPr algn="r" rtl="1">
              <a:spcAft>
                <a:spcPts val="1200"/>
              </a:spcAft>
              <a:buFont typeface="Calibri"/>
              <a:buChar char="•"/>
            </a:pP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شاخه پایه همان جا روی گراف اصلی خوشه می‌زند.</a:t>
            </a:r>
          </a:p>
          <a:p>
            <a:pPr algn="r" rtl="1">
              <a:spcAft>
                <a:spcPts val="1200"/>
              </a:spcAft>
              <a:buFont typeface="Calibri"/>
              <a:buChar char="•"/>
            </a:pP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شاخه لم از افراز و گراف کوچک رد می‌شود و برچسب را به نمونه‌ها برمی‌گرداند.</a:t>
            </a:r>
          </a:p>
          <a:p>
            <a:pPr algn="r" rtl="1">
              <a:spcAft>
                <a:spcPts val="1200"/>
              </a:spcAft>
              <a:buFont typeface="Calibri"/>
              <a:buChar char="•"/>
            </a:pP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هر دو شاخه با برچسب واقعی و </a:t>
            </a:r>
            <a:r>
              <a:rPr sz="1800" b="0" rtl="0" lang="en-US">
                <a:solidFill>
                  <a:srgbClr val="1B1816"/>
                </a:solidFill>
                <a:latin typeface="Calibri"/>
                <a:ea typeface="Calibri"/>
                <a:cs typeface="Calibri"/>
              </a:rPr>
              <a:t>NMI</a:t>
            </a: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 مقایسه می‌شوند.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EBE4D6"/>
              </a:gs>
              <a:gs pos="100000">
                <a:srgbClr val="F7F1E6"/>
              </a:gs>
            </a:gsLst>
            <a:lin scaled="0" ang="1512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961120" y="-1280160"/>
            <a:ext cx="4754880" cy="4754880"/>
          </a:xfrm>
          <a:prstGeom prst="ellipse">
            <a:avLst/>
          </a:prstGeom>
          <a:solidFill>
            <a:srgbClr val="A33B24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63040" y="4206240"/>
            <a:ext cx="4023360" cy="4023360"/>
          </a:xfrm>
          <a:prstGeom prst="ellipse">
            <a:avLst/>
          </a:prstGeom>
          <a:solidFill>
            <a:srgbClr val="1A334A">
              <a:alpha val="9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A33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11480" y="256032"/>
            <a:ext cx="11384280" cy="841248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201168" dist="45720" dir="7200000" algn="ctr" rotWithShape="0">
              <a:srgbClr val="1A334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384048"/>
            <a:ext cx="1072865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2600" b="1" rtl="1" lang="fa-IR">
                <a:solidFill>
                  <a:srgbClr val="1A334A"/>
                </a:solidFill>
                <a:latin typeface="Calibri"/>
                <a:ea typeface="B Nazanin"/>
                <a:cs typeface="B Nazanin"/>
              </a:rPr>
              <a:t>چهار الگوریتم، روی هر دو راه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510528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100" b="0" rtl="1" lang="fa-IR">
                <a:solidFill>
                  <a:srgbClr val="6B645C"/>
                </a:solidFill>
                <a:latin typeface="Calibri"/>
                <a:ea typeface="B Nazanin"/>
                <a:cs typeface="B Nazanin"/>
              </a:rPr>
              <a:t>خوشه‌بندی گرافی با لم نظم زمردی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774375" y="6473952"/>
            <a:ext cx="868680" cy="256032"/>
          </a:xfrm>
          <a:prstGeom prst="roundRect">
            <a:avLst>
              <a:gd name="adj" fmla="val 10000"/>
            </a:avLst>
          </a:prstGeom>
          <a:solidFill>
            <a:srgbClr val="1A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774375" y="645566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>
              <a:spcAft>
                <a:spcPts val="0"/>
              </a:spcAft>
            </a:pPr>
            <a:r>
              <a:rPr sz="1100" b="0" rtl="1" lang="fa-IR">
                <a:solidFill>
                  <a:srgbClr val="FFFFFF"/>
                </a:solidFill>
                <a:latin typeface="Calibri"/>
                <a:ea typeface="B Nazanin"/>
                <a:cs typeface="B Nazanin"/>
              </a:rPr>
              <a:t>۱۷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043416" y="1417320"/>
            <a:ext cx="2660904" cy="4297680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256032" dist="73152" dir="7200000" algn="ctr" rotWithShape="0">
              <a:srgbClr val="1A334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043416" y="1417320"/>
            <a:ext cx="2660904" cy="109728"/>
          </a:xfrm>
          <a:prstGeom prst="rect">
            <a:avLst/>
          </a:prstGeom>
          <a:solidFill>
            <a:srgbClr val="A33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72016" y="1737360"/>
            <a:ext cx="220370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400" b="0" rtl="1" lang="fa-IR">
                <a:solidFill>
                  <a:srgbClr val="A33B24"/>
                </a:solidFill>
                <a:latin typeface="Calibri"/>
                <a:ea typeface="B Nazanin"/>
                <a:cs typeface="B Nazanin"/>
              </a:rPr>
              <a:t>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72016" y="2240280"/>
            <a:ext cx="2203704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0">
              <a:spcAft>
                <a:spcPts val="0"/>
              </a:spcAft>
            </a:pPr>
            <a:r>
              <a:rPr sz="2200" b="1" rtl="0" lang="en-US">
                <a:solidFill>
                  <a:srgbClr val="1A334A"/>
                </a:solidFill>
                <a:latin typeface="Calibri"/>
                <a:ea typeface="Calibri"/>
                <a:cs typeface="Calibri"/>
              </a:rPr>
              <a:t>SPC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72016" y="3520439"/>
            <a:ext cx="2203704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خوشه‌بندی طیفی. گراف را با بردارهای ویژه می‌بُرد.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81344" y="1417320"/>
            <a:ext cx="2660904" cy="4297680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256032" dist="73152" dir="7200000" algn="ctr" rotWithShape="0">
              <a:srgbClr val="1A334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81344" y="1417320"/>
            <a:ext cx="2660904" cy="109728"/>
          </a:xfrm>
          <a:prstGeom prst="rect">
            <a:avLst/>
          </a:prstGeom>
          <a:solidFill>
            <a:srgbClr val="1A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9944" y="1737360"/>
            <a:ext cx="220370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400" b="0" rtl="1" lang="fa-IR">
                <a:solidFill>
                  <a:srgbClr val="A33B24"/>
                </a:solidFill>
                <a:latin typeface="Calibri"/>
                <a:ea typeface="B Nazanin"/>
                <a:cs typeface="B Nazanin"/>
              </a:rPr>
              <a:t>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9944" y="2240280"/>
            <a:ext cx="2203704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0">
              <a:spcAft>
                <a:spcPts val="0"/>
              </a:spcAft>
            </a:pPr>
            <a:r>
              <a:rPr sz="2200" b="1" rtl="0" lang="en-US">
                <a:solidFill>
                  <a:srgbClr val="1A334A"/>
                </a:solidFill>
                <a:latin typeface="Calibri"/>
                <a:ea typeface="Calibri"/>
                <a:cs typeface="Calibri"/>
              </a:rPr>
              <a:t>APC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9944" y="3520439"/>
            <a:ext cx="2203704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انتشار وابستگی. نمونه‌ها خودشان نماینده خوشه را انتخاب می‌کنند.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319272" y="1417320"/>
            <a:ext cx="2660904" cy="4297680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256032" dist="73152" dir="7200000" algn="ctr" rotWithShape="0">
              <a:srgbClr val="1A334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319272" y="1417320"/>
            <a:ext cx="2660904" cy="109728"/>
          </a:xfrm>
          <a:prstGeom prst="rect">
            <a:avLst/>
          </a:prstGeom>
          <a:solidFill>
            <a:srgbClr val="1A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547872" y="1737360"/>
            <a:ext cx="220370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400" b="0" rtl="1" lang="fa-IR">
                <a:solidFill>
                  <a:srgbClr val="A33B24"/>
                </a:solidFill>
                <a:latin typeface="Calibri"/>
                <a:ea typeface="B Nazanin"/>
                <a:cs typeface="B Nazanin"/>
              </a:rPr>
              <a:t>۳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47872" y="2240280"/>
            <a:ext cx="2203704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0">
              <a:spcAft>
                <a:spcPts val="0"/>
              </a:spcAft>
            </a:pPr>
            <a:r>
              <a:rPr sz="2200" b="1" rtl="0" lang="en-US">
                <a:solidFill>
                  <a:srgbClr val="1A334A"/>
                </a:solidFill>
                <a:latin typeface="Calibri"/>
                <a:ea typeface="Calibri"/>
                <a:cs typeface="Calibri"/>
              </a:rPr>
              <a:t>DSet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47872" y="3520439"/>
            <a:ext cx="2203704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مجموعه غالب. یک تکه خیلی متراکم را به‌عنوان خوشه برمی‌دارد.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1417320"/>
            <a:ext cx="2660904" cy="4297680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256032" dist="73152" dir="7200000" algn="ctr" rotWithShape="0">
              <a:srgbClr val="1A334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57200" y="1417320"/>
            <a:ext cx="2660904" cy="109728"/>
          </a:xfrm>
          <a:prstGeom prst="rect">
            <a:avLst/>
          </a:prstGeom>
          <a:solidFill>
            <a:srgbClr val="1A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" y="1737360"/>
            <a:ext cx="220370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400" b="0" rtl="1" lang="fa-IR">
                <a:solidFill>
                  <a:srgbClr val="A33B24"/>
                </a:solidFill>
                <a:latin typeface="Calibri"/>
                <a:ea typeface="B Nazanin"/>
                <a:cs typeface="B Nazanin"/>
              </a:rPr>
              <a:t>۴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2240280"/>
            <a:ext cx="2203704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0">
              <a:spcAft>
                <a:spcPts val="0"/>
              </a:spcAft>
            </a:pPr>
            <a:r>
              <a:rPr sz="2200" b="1" rtl="0" lang="en-US">
                <a:solidFill>
                  <a:srgbClr val="1A334A"/>
                </a:solidFill>
                <a:latin typeface="Calibri"/>
                <a:ea typeface="Calibri"/>
                <a:cs typeface="Calibri"/>
              </a:rPr>
              <a:t>SPRG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" y="3520439"/>
            <a:ext cx="2203704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خوشه‌بندی طیفی با شباهت جنگل تصادفی. شباهت از جنگل می‌آید، بعد برش طیفی.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EBE4D6"/>
              </a:gs>
              <a:gs pos="100000">
                <a:srgbClr val="F7F1E6"/>
              </a:gs>
            </a:gsLst>
            <a:lin scaled="0" ang="1512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961120" y="-1280160"/>
            <a:ext cx="4754880" cy="4754880"/>
          </a:xfrm>
          <a:prstGeom prst="ellipse">
            <a:avLst/>
          </a:prstGeom>
          <a:solidFill>
            <a:srgbClr val="A33B24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63040" y="4206240"/>
            <a:ext cx="4023360" cy="4023360"/>
          </a:xfrm>
          <a:prstGeom prst="ellipse">
            <a:avLst/>
          </a:prstGeom>
          <a:solidFill>
            <a:srgbClr val="1A334A">
              <a:alpha val="9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A33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11480" y="256032"/>
            <a:ext cx="11384280" cy="841248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201168" dist="45720" dir="7200000" algn="ctr" rotWithShape="0">
              <a:srgbClr val="1A334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384048"/>
            <a:ext cx="1072865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2600" b="1" rtl="1" lang="fa-IR">
                <a:solidFill>
                  <a:srgbClr val="1A334A"/>
                </a:solidFill>
                <a:latin typeface="Calibri"/>
                <a:ea typeface="B Nazanin"/>
                <a:cs typeface="B Nazanin"/>
              </a:rPr>
              <a:t>اصلاح آخر برچسب، بعد از برگشت به نمونه‌ها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510528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100" b="0" rtl="1" lang="fa-IR">
                <a:solidFill>
                  <a:srgbClr val="6B645C"/>
                </a:solidFill>
                <a:latin typeface="Calibri"/>
                <a:ea typeface="B Nazanin"/>
                <a:cs typeface="B Nazanin"/>
              </a:rPr>
              <a:t>خوشه‌بندی گرافی با لم نظم زمردی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774375" y="6473952"/>
            <a:ext cx="868680" cy="256032"/>
          </a:xfrm>
          <a:prstGeom prst="roundRect">
            <a:avLst>
              <a:gd name="adj" fmla="val 10000"/>
            </a:avLst>
          </a:prstGeom>
          <a:solidFill>
            <a:srgbClr val="1A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774375" y="645566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>
              <a:spcAft>
                <a:spcPts val="0"/>
              </a:spcAft>
            </a:pPr>
            <a:r>
              <a:rPr sz="1100" b="0" rtl="1" lang="fa-IR">
                <a:solidFill>
                  <a:srgbClr val="FFFFFF"/>
                </a:solidFill>
                <a:latin typeface="Calibri"/>
                <a:ea typeface="B Nazanin"/>
                <a:cs typeface="B Nazanin"/>
              </a:rPr>
              <a:t>۱۸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9184" y="1170432"/>
            <a:ext cx="7360920" cy="5212080"/>
          </a:xfrm>
          <a:prstGeom prst="roundRect">
            <a:avLst>
              <a:gd name="adj" fmla="val 10000"/>
            </a:avLst>
          </a:prstGeom>
          <a:solidFill>
            <a:srgbClr val="DED5C4"/>
          </a:solidFill>
          <a:ln>
            <a:noFill/>
          </a:ln>
          <a:effectLst>
            <a:outerShdw blurRad="201168" dist="54864" dir="7200000" algn="ctr" rotWithShape="0">
              <a:srgbClr val="1A334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20624" y="1261872"/>
            <a:ext cx="7178040" cy="5029200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concept_polis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" y="2616708"/>
            <a:ext cx="6958584" cy="2319528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7836408" y="1170432"/>
            <a:ext cx="4050791" cy="5212080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201168" dist="54864" dir="7200000" algn="ctr" rotWithShape="0">
              <a:srgbClr val="1A334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649456" y="1170432"/>
            <a:ext cx="91440" cy="5212080"/>
          </a:xfrm>
          <a:prstGeom prst="rect">
            <a:avLst/>
          </a:prstGeom>
          <a:solidFill>
            <a:srgbClr val="A33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01000" y="1353312"/>
            <a:ext cx="3666744" cy="4846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1200"/>
              </a:spcAft>
              <a:buFont typeface="Calibri"/>
              <a:buChar char="•"/>
            </a:pP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دایره گروه لم است، نه مرز خوشه.</a:t>
            </a:r>
          </a:p>
          <a:p>
            <a:pPr algn="r" rtl="1">
              <a:spcAft>
                <a:spcPts val="1200"/>
              </a:spcAft>
              <a:buFont typeface="Calibri"/>
              <a:buChar char="•"/>
            </a:pP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اول همه اعضای یک گروه یک رنگ می‌گیرند، حتی اگر یکی‌شان میان همسایه‌های رنگ دیگر باشد.</a:t>
            </a:r>
          </a:p>
          <a:p>
            <a:pPr algn="r" rtl="1">
              <a:spcAft>
                <a:spcPts val="1200"/>
              </a:spcAft>
              <a:buFont typeface="Calibri"/>
              <a:buChar char="•"/>
            </a:pP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این مرحله فقط رنگ خوشه همان نقطه را عوض می‌کند.</a:t>
            </a:r>
          </a:p>
          <a:p>
            <a:pPr algn="r" rtl="1">
              <a:spcAft>
                <a:spcPts val="1200"/>
              </a:spcAft>
              <a:buFont typeface="Calibri"/>
              <a:buChar char="•"/>
            </a:pP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عضویت او در گروه لم دست نمی‌خورد. این مرحله جزو خود لم نیست.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EBE4D6"/>
              </a:gs>
              <a:gs pos="100000">
                <a:srgbClr val="F7F1E6"/>
              </a:gs>
            </a:gsLst>
            <a:lin scaled="0" ang="1512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961120" y="-1280160"/>
            <a:ext cx="4754880" cy="4754880"/>
          </a:xfrm>
          <a:prstGeom prst="ellipse">
            <a:avLst/>
          </a:prstGeom>
          <a:solidFill>
            <a:srgbClr val="A33B24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63040" y="4206240"/>
            <a:ext cx="4023360" cy="4023360"/>
          </a:xfrm>
          <a:prstGeom prst="ellipse">
            <a:avLst/>
          </a:prstGeom>
          <a:solidFill>
            <a:srgbClr val="1A334A">
              <a:alpha val="9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A33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11480" y="256032"/>
            <a:ext cx="11384280" cy="841248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201168" dist="45720" dir="7200000" algn="ctr" rotWithShape="0">
              <a:srgbClr val="1A334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384048"/>
            <a:ext cx="1072865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2600" b="1" rtl="1" lang="fa-IR">
                <a:solidFill>
                  <a:srgbClr val="1A334A"/>
                </a:solidFill>
                <a:latin typeface="Calibri"/>
                <a:ea typeface="B Nazanin"/>
                <a:cs typeface="B Nazanin"/>
              </a:rPr>
              <a:t>تنظیم آزمایش و معیار مقایسه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510528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100" b="0" rtl="1" lang="fa-IR">
                <a:solidFill>
                  <a:srgbClr val="6B645C"/>
                </a:solidFill>
                <a:latin typeface="Calibri"/>
                <a:ea typeface="B Nazanin"/>
                <a:cs typeface="B Nazanin"/>
              </a:rPr>
              <a:t>خوشه‌بندی گرافی با لم نظم زمردی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774375" y="6473952"/>
            <a:ext cx="868680" cy="256032"/>
          </a:xfrm>
          <a:prstGeom prst="roundRect">
            <a:avLst>
              <a:gd name="adj" fmla="val 10000"/>
            </a:avLst>
          </a:prstGeom>
          <a:solidFill>
            <a:srgbClr val="1A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774375" y="645566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>
              <a:spcAft>
                <a:spcPts val="0"/>
              </a:spcAft>
            </a:pPr>
            <a:r>
              <a:rPr sz="1100" b="0" rtl="1" lang="fa-IR">
                <a:solidFill>
                  <a:srgbClr val="FFFFFF"/>
                </a:solidFill>
                <a:latin typeface="Calibri"/>
                <a:ea typeface="B Nazanin"/>
                <a:cs typeface="B Nazanin"/>
              </a:rPr>
              <a:t>۱۹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1261872"/>
            <a:ext cx="11292840" cy="841248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182880" dist="45720" dir="7200000" algn="ctr" rotWithShape="0">
              <a:srgbClr val="1A334A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1594592" y="1371600"/>
            <a:ext cx="91440" cy="621792"/>
          </a:xfrm>
          <a:prstGeom prst="rect">
            <a:avLst/>
          </a:prstGeom>
          <a:solidFill>
            <a:srgbClr val="A33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61320" y="1389888"/>
            <a:ext cx="914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600" b="1" rtl="1" lang="fa-IR">
                <a:solidFill>
                  <a:srgbClr val="A33B24"/>
                </a:solidFill>
                <a:latin typeface="Calibri"/>
                <a:ea typeface="B Nazanin"/>
                <a:cs typeface="B Nazanin"/>
              </a:rPr>
              <a:t>۰۱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1389888"/>
            <a:ext cx="9738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بیست مجموعه داده و چهار الگوریتم: هشتاد خانه، که هفتاد و هشت تایش معتبر ماند.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2194560"/>
            <a:ext cx="11292840" cy="841248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182880" dist="45720" dir="7200000" algn="ctr" rotWithShape="0">
              <a:srgbClr val="1A334A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1594592" y="2304288"/>
            <a:ext cx="91440" cy="621792"/>
          </a:xfrm>
          <a:prstGeom prst="rect">
            <a:avLst/>
          </a:prstGeom>
          <a:solidFill>
            <a:srgbClr val="1A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61320" y="2322576"/>
            <a:ext cx="914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600" b="1" rtl="1" lang="fa-IR">
                <a:solidFill>
                  <a:srgbClr val="A33B24"/>
                </a:solidFill>
                <a:latin typeface="Calibri"/>
                <a:ea typeface="B Nazanin"/>
                <a:cs typeface="B Nazanin"/>
              </a:rPr>
              <a:t>۰۲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2322576"/>
            <a:ext cx="9738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ده مجموعه با همه نمونه‌ها اجرا شد و ده مجموعه با حدود چهارصد نمونه طبقه‌ای.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3127248"/>
            <a:ext cx="11292840" cy="841248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182880" dist="45720" dir="7200000" algn="ctr" rotWithShape="0">
              <a:srgbClr val="1A334A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1594592" y="3236976"/>
            <a:ext cx="91440" cy="621792"/>
          </a:xfrm>
          <a:prstGeom prst="rect">
            <a:avLst/>
          </a:prstGeom>
          <a:solidFill>
            <a:srgbClr val="1A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61320" y="3255264"/>
            <a:ext cx="914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600" b="1" rtl="1" lang="fa-IR">
                <a:solidFill>
                  <a:srgbClr val="A33B24"/>
                </a:solidFill>
                <a:latin typeface="Calibri"/>
                <a:ea typeface="B Nazanin"/>
                <a:cs typeface="B Nazanin"/>
              </a:rPr>
              <a:t>۰۳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3255264"/>
            <a:ext cx="9738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برای هر خانه، شبکه تنظیمات مثل آزمایش مقاله انتخاب شد و بهترین مقدار گزارش شد.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4059936"/>
            <a:ext cx="11292840" cy="841248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182880" dist="45720" dir="7200000" algn="ctr" rotWithShape="0">
              <a:srgbClr val="1A334A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594592" y="4169664"/>
            <a:ext cx="91440" cy="621792"/>
          </a:xfrm>
          <a:prstGeom prst="rect">
            <a:avLst/>
          </a:prstGeom>
          <a:solidFill>
            <a:srgbClr val="1A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561320" y="4187952"/>
            <a:ext cx="914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600" b="1" rtl="1" lang="fa-IR">
                <a:solidFill>
                  <a:srgbClr val="A33B24"/>
                </a:solidFill>
                <a:latin typeface="Calibri"/>
                <a:ea typeface="B Nazanin"/>
                <a:cs typeface="B Nazanin"/>
              </a:rPr>
              <a:t>۰۴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4187952"/>
            <a:ext cx="9738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ادعای اصلی این ارائه، مقایسه با راه پایه خودمان است، نه رونویسی جدول چاپ‌شده مقاله.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EBE4D6"/>
              </a:gs>
              <a:gs pos="100000">
                <a:srgbClr val="F7F1E6"/>
              </a:gs>
            </a:gsLst>
            <a:lin scaled="0" ang="1512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961120" y="-1280160"/>
            <a:ext cx="4754880" cy="4754880"/>
          </a:xfrm>
          <a:prstGeom prst="ellipse">
            <a:avLst/>
          </a:prstGeom>
          <a:solidFill>
            <a:srgbClr val="A33B24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63040" y="4206240"/>
            <a:ext cx="4023360" cy="4023360"/>
          </a:xfrm>
          <a:prstGeom prst="ellipse">
            <a:avLst/>
          </a:prstGeom>
          <a:solidFill>
            <a:srgbClr val="1A334A">
              <a:alpha val="9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A33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11480" y="256032"/>
            <a:ext cx="11384280" cy="841248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201168" dist="45720" dir="7200000" algn="ctr" rotWithShape="0">
              <a:srgbClr val="1A334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384048"/>
            <a:ext cx="1072865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2600" b="1" rtl="1" lang="fa-IR">
                <a:solidFill>
                  <a:srgbClr val="1A334A"/>
                </a:solidFill>
                <a:latin typeface="Calibri"/>
                <a:ea typeface="B Nazanin"/>
                <a:cs typeface="B Nazanin"/>
              </a:rPr>
              <a:t>۶۰ بهتر، ۳ برابر، ۱۵ بدتر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510528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100" b="0" rtl="1" lang="fa-IR">
                <a:solidFill>
                  <a:srgbClr val="6B645C"/>
                </a:solidFill>
                <a:latin typeface="Calibri"/>
                <a:ea typeface="B Nazanin"/>
                <a:cs typeface="B Nazanin"/>
              </a:rPr>
              <a:t>خوشه‌بندی گرافی با لم نظم زمردی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774375" y="6473952"/>
            <a:ext cx="868680" cy="256032"/>
          </a:xfrm>
          <a:prstGeom prst="roundRect">
            <a:avLst>
              <a:gd name="adj" fmla="val 10000"/>
            </a:avLst>
          </a:prstGeom>
          <a:solidFill>
            <a:srgbClr val="1A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774375" y="645566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>
              <a:spcAft>
                <a:spcPts val="0"/>
              </a:spcAft>
            </a:pPr>
            <a:r>
              <a:rPr sz="1100" b="0" rtl="1" lang="fa-IR">
                <a:solidFill>
                  <a:srgbClr val="FFFFFF"/>
                </a:solidFill>
                <a:latin typeface="Calibri"/>
                <a:ea typeface="B Nazanin"/>
                <a:cs typeface="B Nazanin"/>
              </a:rPr>
              <a:t>۲۰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32588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800" b="0" rtl="1" lang="fa-IR">
                <a:solidFill>
                  <a:srgbClr val="6B645C"/>
                </a:solidFill>
                <a:latin typeface="Calibri"/>
                <a:ea typeface="B Nazanin"/>
                <a:cs typeface="B Nazanin"/>
              </a:rPr>
              <a:t>هفتاد و هشت مقایسه. هر بار همان الگوریتم، یک بار روی گراف اصلی و یک بار روی گراف کوچک.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38160" y="2103120"/>
            <a:ext cx="3611880" cy="2880360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292608" dist="91440" dir="7200000" algn="ctr" rotWithShape="0">
              <a:srgbClr val="1A334A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38160" y="2103120"/>
            <a:ext cx="3611880" cy="109728"/>
          </a:xfrm>
          <a:prstGeom prst="rect">
            <a:avLst/>
          </a:prstGeom>
          <a:solidFill>
            <a:srgbClr val="2C5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8160" y="2377440"/>
            <a:ext cx="36118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>
              <a:spcAft>
                <a:spcPts val="0"/>
              </a:spcAft>
            </a:pPr>
            <a:r>
              <a:rPr sz="6000" b="1" rtl="1" lang="fa-IR">
                <a:solidFill>
                  <a:srgbClr val="2C5E52"/>
                </a:solidFill>
                <a:latin typeface="Calibri"/>
                <a:ea typeface="B Nazanin"/>
                <a:cs typeface="B Nazanin"/>
              </a:rPr>
              <a:t>۶۰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8160" y="3931920"/>
            <a:ext cx="3611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>
              <a:spcAft>
                <a:spcPts val="0"/>
              </a:spcAft>
            </a:pPr>
            <a:r>
              <a:rPr sz="20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گراف کوچک بهتر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0" y="2103120"/>
            <a:ext cx="3611880" cy="2880360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292608" dist="91440" dir="7200000" algn="ctr" rotWithShape="0">
              <a:srgbClr val="1A334A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297680" y="2103120"/>
            <a:ext cx="3611880" cy="109728"/>
          </a:xfrm>
          <a:prstGeom prst="rect">
            <a:avLst/>
          </a:prstGeom>
          <a:solidFill>
            <a:srgbClr val="1A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97680" y="2377440"/>
            <a:ext cx="36118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>
              <a:spcAft>
                <a:spcPts val="0"/>
              </a:spcAft>
            </a:pPr>
            <a:r>
              <a:rPr sz="6000" b="1" rtl="1" lang="fa-IR">
                <a:solidFill>
                  <a:srgbClr val="1A334A"/>
                </a:solidFill>
                <a:latin typeface="Calibri"/>
                <a:ea typeface="B Nazanin"/>
                <a:cs typeface="B Nazanin"/>
              </a:rPr>
              <a:t>۳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0" y="3931920"/>
            <a:ext cx="3611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>
              <a:spcAft>
                <a:spcPts val="0"/>
              </a:spcAft>
            </a:pPr>
            <a:r>
              <a:rPr sz="20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برابر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2103120"/>
            <a:ext cx="3611880" cy="2880360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292608" dist="91440" dir="7200000" algn="ctr" rotWithShape="0">
              <a:srgbClr val="1A334A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2103120"/>
            <a:ext cx="3611880" cy="109728"/>
          </a:xfrm>
          <a:prstGeom prst="rect">
            <a:avLst/>
          </a:prstGeom>
          <a:solidFill>
            <a:srgbClr val="A33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2377440"/>
            <a:ext cx="36118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>
              <a:spcAft>
                <a:spcPts val="0"/>
              </a:spcAft>
            </a:pPr>
            <a:r>
              <a:rPr sz="6000" b="1" rtl="1" lang="fa-IR">
                <a:solidFill>
                  <a:srgbClr val="A33B24"/>
                </a:solidFill>
                <a:latin typeface="Calibri"/>
                <a:ea typeface="B Nazanin"/>
                <a:cs typeface="B Nazanin"/>
              </a:rPr>
              <a:t>۱۵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3931920"/>
            <a:ext cx="3611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>
              <a:spcAft>
                <a:spcPts val="0"/>
              </a:spcAft>
            </a:pPr>
            <a:r>
              <a:rPr sz="20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گراف اصلی بهتر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EBE4D6"/>
              </a:gs>
              <a:gs pos="100000">
                <a:srgbClr val="F7F1E6"/>
              </a:gs>
            </a:gsLst>
            <a:lin scaled="0" ang="1512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961120" y="-1280160"/>
            <a:ext cx="4754880" cy="4754880"/>
          </a:xfrm>
          <a:prstGeom prst="ellipse">
            <a:avLst/>
          </a:prstGeom>
          <a:solidFill>
            <a:srgbClr val="A33B24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63040" y="4206240"/>
            <a:ext cx="4023360" cy="4023360"/>
          </a:xfrm>
          <a:prstGeom prst="ellipse">
            <a:avLst/>
          </a:prstGeom>
          <a:solidFill>
            <a:srgbClr val="1A334A">
              <a:alpha val="9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A33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11480" y="256032"/>
            <a:ext cx="11384280" cy="841248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201168" dist="45720" dir="7200000" algn="ctr" rotWithShape="0">
              <a:srgbClr val="1A334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384048"/>
            <a:ext cx="1072865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2600" b="1" rtl="1" lang="fa-IR">
                <a:solidFill>
                  <a:srgbClr val="1A334A"/>
                </a:solidFill>
                <a:latin typeface="Calibri"/>
                <a:ea typeface="B Nazanin"/>
                <a:cs typeface="B Nazanin"/>
              </a:rPr>
              <a:t>نمودار اختلاف: بالای صفر یعنی لم بهتر است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510528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100" b="0" rtl="1" lang="fa-IR">
                <a:solidFill>
                  <a:srgbClr val="6B645C"/>
                </a:solidFill>
                <a:latin typeface="Calibri"/>
                <a:ea typeface="B Nazanin"/>
                <a:cs typeface="B Nazanin"/>
              </a:rPr>
              <a:t>خوشه‌بندی گرافی با لم نظم زمردی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774375" y="6473952"/>
            <a:ext cx="868680" cy="256032"/>
          </a:xfrm>
          <a:prstGeom prst="roundRect">
            <a:avLst>
              <a:gd name="adj" fmla="val 10000"/>
            </a:avLst>
          </a:prstGeom>
          <a:solidFill>
            <a:srgbClr val="1A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774375" y="645566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>
              <a:spcAft>
                <a:spcPts val="0"/>
              </a:spcAft>
            </a:pPr>
            <a:r>
              <a:rPr sz="1100" b="0" rtl="1" lang="fa-IR">
                <a:solidFill>
                  <a:srgbClr val="FFFFFF"/>
                </a:solidFill>
                <a:latin typeface="Calibri"/>
                <a:ea typeface="B Nazanin"/>
                <a:cs typeface="B Nazanin"/>
              </a:rPr>
              <a:t>۲۱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9184" y="1170432"/>
            <a:ext cx="7360920" cy="5212080"/>
          </a:xfrm>
          <a:prstGeom prst="roundRect">
            <a:avLst>
              <a:gd name="adj" fmla="val 10000"/>
            </a:avLst>
          </a:prstGeom>
          <a:solidFill>
            <a:srgbClr val="DED5C4"/>
          </a:solidFill>
          <a:ln>
            <a:noFill/>
          </a:ln>
          <a:effectLst>
            <a:outerShdw blurRad="201168" dist="54864" dir="7200000" algn="ctr" rotWithShape="0">
              <a:srgbClr val="1A334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20624" y="1261872"/>
            <a:ext cx="7178040" cy="5029200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fig_delta_nmi_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" y="2207380"/>
            <a:ext cx="6958584" cy="3138184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7836408" y="1170432"/>
            <a:ext cx="4050791" cy="5212080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201168" dist="54864" dir="7200000" algn="ctr" rotWithShape="0">
              <a:srgbClr val="1A334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649456" y="1170432"/>
            <a:ext cx="91440" cy="5212080"/>
          </a:xfrm>
          <a:prstGeom prst="rect">
            <a:avLst/>
          </a:prstGeom>
          <a:solidFill>
            <a:srgbClr val="A33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01000" y="1353312"/>
            <a:ext cx="3666744" cy="4846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1200"/>
              </a:spcAft>
              <a:buFont typeface="Calibri"/>
              <a:buChar char="•"/>
            </a:pP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هر میله اختلاف </a:t>
            </a:r>
            <a:r>
              <a:rPr sz="1800" b="0" rtl="0" lang="en-US">
                <a:solidFill>
                  <a:srgbClr val="1B1816"/>
                </a:solidFill>
                <a:latin typeface="Calibri"/>
                <a:ea typeface="Calibri"/>
                <a:cs typeface="Calibri"/>
              </a:rPr>
              <a:t>NMI</a:t>
            </a: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 راه لم با راه پایه است.</a:t>
            </a:r>
          </a:p>
          <a:p>
            <a:pPr algn="r" rtl="1">
              <a:spcAft>
                <a:spcPts val="1200"/>
              </a:spcAft>
              <a:buFont typeface="Calibri"/>
              <a:buChar char="•"/>
            </a:pP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بالای صفر: لم بهتر بوده است.</a:t>
            </a:r>
          </a:p>
          <a:p>
            <a:pPr algn="r" rtl="1">
              <a:spcAft>
                <a:spcPts val="1200"/>
              </a:spcAft>
              <a:buFont typeface="Calibri"/>
              <a:buChar char="•"/>
            </a:pP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پایین صفر: راه پایه بهتر بوده است.</a:t>
            </a:r>
          </a:p>
          <a:p>
            <a:pPr algn="r" rtl="1">
              <a:spcAft>
                <a:spcPts val="1200"/>
              </a:spcAft>
              <a:buFont typeface="Calibri"/>
              <a:buChar char="•"/>
            </a:pPr>
            <a:r>
              <a:rPr sz="1800" b="0" rtl="0" lang="en-US">
                <a:solidFill>
                  <a:srgbClr val="1B1816"/>
                </a:solidFill>
                <a:latin typeface="Calibri"/>
                <a:ea typeface="Calibri"/>
                <a:cs typeface="Calibri"/>
              </a:rPr>
              <a:t>NMI</a:t>
            </a: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 نزدیکی خوشه پیش‌بینی‌شده به برچسب واقعی را می‌سنجد.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EBE4D6"/>
              </a:gs>
              <a:gs pos="100000">
                <a:srgbClr val="F7F1E6"/>
              </a:gs>
            </a:gsLst>
            <a:lin scaled="0" ang="1512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961120" y="-1280160"/>
            <a:ext cx="4754880" cy="4754880"/>
          </a:xfrm>
          <a:prstGeom prst="ellipse">
            <a:avLst/>
          </a:prstGeom>
          <a:solidFill>
            <a:srgbClr val="A33B24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63040" y="4206240"/>
            <a:ext cx="4023360" cy="4023360"/>
          </a:xfrm>
          <a:prstGeom prst="ellipse">
            <a:avLst/>
          </a:prstGeom>
          <a:solidFill>
            <a:srgbClr val="1A334A">
              <a:alpha val="9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A33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11480" y="256032"/>
            <a:ext cx="11384280" cy="841248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201168" dist="45720" dir="7200000" algn="ctr" rotWithShape="0">
              <a:srgbClr val="1A334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384048"/>
            <a:ext cx="1072865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2600" b="1" rtl="1" lang="fa-IR">
                <a:solidFill>
                  <a:srgbClr val="1A334A"/>
                </a:solidFill>
                <a:latin typeface="Calibri"/>
                <a:ea typeface="B Nazanin"/>
                <a:cs typeface="B Nazanin"/>
              </a:rPr>
              <a:t>سه مجموعه با بیشترین بهبود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510528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100" b="0" rtl="1" lang="fa-IR">
                <a:solidFill>
                  <a:srgbClr val="6B645C"/>
                </a:solidFill>
                <a:latin typeface="Calibri"/>
                <a:ea typeface="B Nazanin"/>
                <a:cs typeface="B Nazanin"/>
              </a:rPr>
              <a:t>خوشه‌بندی گرافی با لم نظم زمردی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774375" y="6473952"/>
            <a:ext cx="868680" cy="256032"/>
          </a:xfrm>
          <a:prstGeom prst="roundRect">
            <a:avLst>
              <a:gd name="adj" fmla="val 10000"/>
            </a:avLst>
          </a:prstGeom>
          <a:solidFill>
            <a:srgbClr val="1A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774375" y="645566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>
              <a:spcAft>
                <a:spcPts val="0"/>
              </a:spcAft>
            </a:pPr>
            <a:r>
              <a:rPr sz="1100" b="0" rtl="1" lang="fa-IR">
                <a:solidFill>
                  <a:srgbClr val="FFFFFF"/>
                </a:solidFill>
                <a:latin typeface="Calibri"/>
                <a:ea typeface="B Nazanin"/>
                <a:cs typeface="B Nazanin"/>
              </a:rPr>
              <a:t>۲۲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89392" y="1554480"/>
            <a:ext cx="3614928" cy="4114800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256032" dist="73152" dir="7200000" algn="ctr" rotWithShape="0">
              <a:srgbClr val="1A334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89392" y="1554480"/>
            <a:ext cx="3614928" cy="109728"/>
          </a:xfrm>
          <a:prstGeom prst="rect">
            <a:avLst/>
          </a:prstGeom>
          <a:solidFill>
            <a:srgbClr val="A33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17992" y="1874519"/>
            <a:ext cx="315772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400" b="0" rtl="1" lang="fa-IR">
                <a:solidFill>
                  <a:srgbClr val="A33B24"/>
                </a:solidFill>
                <a:latin typeface="Calibri"/>
                <a:ea typeface="B Nazanin"/>
                <a:cs typeface="B Nazanin"/>
              </a:rPr>
              <a:t>شراب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17992" y="2377440"/>
            <a:ext cx="3157728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2600" b="1" rtl="1" lang="fa-IR">
                <a:solidFill>
                  <a:srgbClr val="1A334A"/>
                </a:solidFill>
                <a:latin typeface="Calibri"/>
                <a:ea typeface="B Nazanin"/>
                <a:cs typeface="B Nazanin"/>
              </a:rPr>
              <a:t>پایه ضعیف، لم قوی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17992" y="3657600"/>
            <a:ext cx="3157728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سه الگوریتم از حدود نیم به نزدیک ۰/۸۹ رسیدند.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73296" y="1554480"/>
            <a:ext cx="3614928" cy="4114800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256032" dist="73152" dir="7200000" algn="ctr" rotWithShape="0">
              <a:srgbClr val="1A334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273296" y="1554480"/>
            <a:ext cx="3614928" cy="109728"/>
          </a:xfrm>
          <a:prstGeom prst="rect">
            <a:avLst/>
          </a:prstGeom>
          <a:solidFill>
            <a:srgbClr val="1A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01896" y="1874519"/>
            <a:ext cx="315772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400" b="0" rtl="1" lang="fa-IR">
                <a:solidFill>
                  <a:srgbClr val="A33B24"/>
                </a:solidFill>
                <a:latin typeface="Calibri"/>
                <a:ea typeface="B Nazanin"/>
                <a:cs typeface="B Nazanin"/>
              </a:rPr>
              <a:t>آپاندیسیت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01896" y="2377440"/>
            <a:ext cx="3157728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2600" b="1" rtl="1" lang="fa-IR">
                <a:solidFill>
                  <a:srgbClr val="1A334A"/>
                </a:solidFill>
                <a:latin typeface="Calibri"/>
                <a:ea typeface="B Nazanin"/>
                <a:cs typeface="B Nazanin"/>
              </a:rPr>
              <a:t>تطابق کامل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01896" y="3657600"/>
            <a:ext cx="3157728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دو الگوریتم از پایه متوسط به ۱ رسیدند.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1554480"/>
            <a:ext cx="3614928" cy="4114800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256032" dist="73152" dir="7200000" algn="ctr" rotWithShape="0">
              <a:srgbClr val="1A334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1554480"/>
            <a:ext cx="3614928" cy="109728"/>
          </a:xfrm>
          <a:prstGeom prst="rect">
            <a:avLst/>
          </a:prstGeom>
          <a:solidFill>
            <a:srgbClr val="1A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1874519"/>
            <a:ext cx="315772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400" b="0" rtl="1" lang="fa-IR">
                <a:solidFill>
                  <a:srgbClr val="A33B24"/>
                </a:solidFill>
                <a:latin typeface="Calibri"/>
                <a:ea typeface="B Nazanin"/>
                <a:cs typeface="B Nazanin"/>
              </a:rPr>
              <a:t>اسکناس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2377440"/>
            <a:ext cx="3157728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2600" b="1" rtl="1" lang="fa-IR">
                <a:solidFill>
                  <a:srgbClr val="1A334A"/>
                </a:solidFill>
                <a:latin typeface="Calibri"/>
                <a:ea typeface="B Nazanin"/>
                <a:cs typeface="B Nazanin"/>
              </a:rPr>
              <a:t>طیفی ضعیف بود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3657600"/>
            <a:ext cx="3157728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خوشه‌بندی طیفی از حدود ۰/۱۹ به حدود ۰/۸۲ رسید.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EBE4D6"/>
              </a:gs>
              <a:gs pos="100000">
                <a:srgbClr val="F7F1E6"/>
              </a:gs>
            </a:gsLst>
            <a:lin scaled="0" ang="1512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961120" y="-1280160"/>
            <a:ext cx="4754880" cy="4754880"/>
          </a:xfrm>
          <a:prstGeom prst="ellipse">
            <a:avLst/>
          </a:prstGeom>
          <a:solidFill>
            <a:srgbClr val="A33B24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63040" y="4206240"/>
            <a:ext cx="4023360" cy="4023360"/>
          </a:xfrm>
          <a:prstGeom prst="ellipse">
            <a:avLst/>
          </a:prstGeom>
          <a:solidFill>
            <a:srgbClr val="1A334A">
              <a:alpha val="9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A33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11480" y="256032"/>
            <a:ext cx="11384280" cy="841248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201168" dist="45720" dir="7200000" algn="ctr" rotWithShape="0">
              <a:srgbClr val="1A334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384048"/>
            <a:ext cx="1072865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2600" b="1" rtl="1" lang="fa-IR">
                <a:solidFill>
                  <a:srgbClr val="1A334A"/>
                </a:solidFill>
                <a:latin typeface="Calibri"/>
                <a:ea typeface="B Nazanin"/>
                <a:cs typeface="B Nazanin"/>
              </a:rPr>
              <a:t>جمع‌بندی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510528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100" b="0" rtl="1" lang="fa-IR">
                <a:solidFill>
                  <a:srgbClr val="6B645C"/>
                </a:solidFill>
                <a:latin typeface="Calibri"/>
                <a:ea typeface="B Nazanin"/>
                <a:cs typeface="B Nazanin"/>
              </a:rPr>
              <a:t>خوشه‌بندی گرافی با لم نظم زمردی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774375" y="6473952"/>
            <a:ext cx="868680" cy="256032"/>
          </a:xfrm>
          <a:prstGeom prst="roundRect">
            <a:avLst>
              <a:gd name="adj" fmla="val 10000"/>
            </a:avLst>
          </a:prstGeom>
          <a:solidFill>
            <a:srgbClr val="1A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774375" y="645566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>
              <a:spcAft>
                <a:spcPts val="0"/>
              </a:spcAft>
            </a:pPr>
            <a:r>
              <a:rPr sz="1100" b="0" rtl="1" lang="fa-IR">
                <a:solidFill>
                  <a:srgbClr val="FFFFFF"/>
                </a:solidFill>
                <a:latin typeface="Calibri"/>
                <a:ea typeface="B Nazanin"/>
                <a:cs typeface="B Nazanin"/>
              </a:rPr>
              <a:t>۲۳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89392" y="1554480"/>
            <a:ext cx="3614928" cy="4114800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256032" dist="73152" dir="7200000" algn="ctr" rotWithShape="0">
              <a:srgbClr val="1A334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89392" y="1554480"/>
            <a:ext cx="3614928" cy="109728"/>
          </a:xfrm>
          <a:prstGeom prst="rect">
            <a:avLst/>
          </a:prstGeom>
          <a:solidFill>
            <a:srgbClr val="A33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17992" y="1874519"/>
            <a:ext cx="315772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400" b="0" rtl="1" lang="fa-IR">
                <a:solidFill>
                  <a:srgbClr val="A33B24"/>
                </a:solidFill>
                <a:latin typeface="Calibri"/>
                <a:ea typeface="B Nazanin"/>
                <a:cs typeface="B Nazanin"/>
              </a:rPr>
              <a:t>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17992" y="2377440"/>
            <a:ext cx="3157728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2600" b="1" rtl="1" lang="fa-IR">
                <a:solidFill>
                  <a:srgbClr val="1A334A"/>
                </a:solidFill>
                <a:latin typeface="Calibri"/>
                <a:ea typeface="B Nazanin"/>
                <a:cs typeface="B Nazanin"/>
              </a:rPr>
              <a:t>لم فشرده می‌کند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17992" y="3657600"/>
            <a:ext cx="3157728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گراف بزرگ به چند ده رأس کاهش پیدا می‌کند.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73296" y="1554480"/>
            <a:ext cx="3614928" cy="4114800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256032" dist="73152" dir="7200000" algn="ctr" rotWithShape="0">
              <a:srgbClr val="1A334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273296" y="1554480"/>
            <a:ext cx="3614928" cy="109728"/>
          </a:xfrm>
          <a:prstGeom prst="rect">
            <a:avLst/>
          </a:prstGeom>
          <a:solidFill>
            <a:srgbClr val="1A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01896" y="1874519"/>
            <a:ext cx="315772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400" b="0" rtl="1" lang="fa-IR">
                <a:solidFill>
                  <a:srgbClr val="A33B24"/>
                </a:solidFill>
                <a:latin typeface="Calibri"/>
                <a:ea typeface="B Nazanin"/>
                <a:cs typeface="B Nazanin"/>
              </a:rPr>
              <a:t>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01896" y="2377440"/>
            <a:ext cx="3157728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2600" b="1" rtl="1" lang="fa-IR">
                <a:solidFill>
                  <a:srgbClr val="1A334A"/>
                </a:solidFill>
                <a:latin typeface="Calibri"/>
                <a:ea typeface="B Nazanin"/>
                <a:cs typeface="B Nazanin"/>
              </a:rPr>
              <a:t>کیفیت معمولاً بهتر ماند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01896" y="3657600"/>
            <a:ext cx="3157728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در ۶۰ مقایسه گراف کوچک بهتر بود، در ۳ مقایسه برابر، در ۱۵ مقایسه بدتر.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1554480"/>
            <a:ext cx="3614928" cy="4114800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256032" dist="73152" dir="7200000" algn="ctr" rotWithShape="0">
              <a:srgbClr val="1A334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1554480"/>
            <a:ext cx="3614928" cy="109728"/>
          </a:xfrm>
          <a:prstGeom prst="rect">
            <a:avLst/>
          </a:prstGeom>
          <a:solidFill>
            <a:srgbClr val="1A3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1874519"/>
            <a:ext cx="315772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400" b="0" rtl="1" lang="fa-IR">
                <a:solidFill>
                  <a:srgbClr val="A33B24"/>
                </a:solidFill>
                <a:latin typeface="Calibri"/>
                <a:ea typeface="B Nazanin"/>
                <a:cs typeface="B Nazanin"/>
              </a:rPr>
              <a:t>۳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2377440"/>
            <a:ext cx="3157728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2600" b="1" rtl="1" lang="fa-IR">
                <a:solidFill>
                  <a:srgbClr val="1A334A"/>
                </a:solidFill>
                <a:latin typeface="Calibri"/>
                <a:ea typeface="B Nazanin"/>
                <a:cs typeface="B Nazanin"/>
              </a:rPr>
              <a:t>الگوریتم قدیمی قوی‌تر شد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3657600"/>
            <a:ext cx="3157728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1800" b="0" rtl="1" lang="fa-IR">
                <a:solidFill>
                  <a:srgbClr val="1B1816"/>
                </a:solidFill>
                <a:latin typeface="Calibri"/>
                <a:ea typeface="B Nazanin"/>
                <a:cs typeface="B Nazanin"/>
              </a:rPr>
              <a:t>همان روش‌های کلاسیک، بعد از کوچک کردن گراف، در بیشتر آزمایش‌ها دقیق‌تر شدند. بیشترین سود جایی بود که راه پایه ناپایدار بود.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D1C2C"/>
              </a:gs>
              <a:gs pos="100000">
                <a:srgbClr val="1A334A"/>
              </a:gs>
            </a:gsLst>
            <a:lin scaled="0" ang="1452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A33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412480" y="-1097280"/>
            <a:ext cx="5120640" cy="5120640"/>
          </a:xfrm>
          <a:prstGeom prst="ellipse">
            <a:avLst/>
          </a:prstGeom>
          <a:solidFill>
            <a:srgbClr val="A33B24">
              <a:alpha val="1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-1645920" y="3840480"/>
            <a:ext cx="4389120" cy="4389120"/>
          </a:xfrm>
          <a:prstGeom prst="ellipse">
            <a:avLst/>
          </a:prstGeom>
          <a:solidFill>
            <a:srgbClr val="2C5E52">
              <a:alpha val="14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234440" y="1874519"/>
            <a:ext cx="9738360" cy="3063240"/>
          </a:xfrm>
          <a:prstGeom prst="roundRect">
            <a:avLst>
              <a:gd name="adj" fmla="val 10000"/>
            </a:avLst>
          </a:prstGeom>
          <a:solidFill>
            <a:srgbClr val="FFFCF8"/>
          </a:solidFill>
          <a:ln>
            <a:noFill/>
          </a:ln>
          <a:effectLst>
            <a:outerShdw blurRad="457200" dist="146304" dir="7200000" algn="ctr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54480" y="2194560"/>
            <a:ext cx="91440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4400" b="1" rtl="1" lang="fa-IR">
                <a:solidFill>
                  <a:srgbClr val="1A334A"/>
                </a:solidFill>
                <a:latin typeface="Calibri"/>
                <a:ea typeface="B Nazanin"/>
                <a:cs typeface="B Nazanin"/>
              </a:rPr>
              <a:t>ممنون از توجه شما</a:t>
            </a:r>
          </a:p>
        </p:txBody>
      </p:sp>
      <p:sp>
        <p:nvSpPr>
          <p:cNvPr id="8" name="Rectangle 7"/>
          <p:cNvSpPr/>
          <p:nvPr/>
        </p:nvSpPr>
        <p:spPr>
          <a:xfrm>
            <a:off x="1554480" y="3520440"/>
            <a:ext cx="2011680" cy="82296"/>
          </a:xfrm>
          <a:prstGeom prst="rect">
            <a:avLst/>
          </a:prstGeom>
          <a:solidFill>
            <a:srgbClr val="A33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554480" y="37947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0"/>
              </a:spcAft>
            </a:pPr>
            <a:r>
              <a:rPr sz="2000" b="0" rtl="1" lang="fa-IR">
                <a:solidFill>
                  <a:srgbClr val="6B645C"/>
                </a:solidFill>
                <a:latin typeface="Calibri"/>
                <a:ea typeface="B Nazanin"/>
                <a:cs typeface="B Nazanin"/>
              </a:rPr>
              <a:t>با سپاس از دکتر زینب مالکی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